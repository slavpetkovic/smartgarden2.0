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SmartGarden is a sensor-driven irrigation and lighting system running on a Raspberry Pi 5. This deck covers what it does, how it is used, and where it goes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is not a gadget looking for a use. Care decisions are made on schedules and intuition when the underlying signals are cheap to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on-device. Vapour pressure deficit is derived from temperature and humidity on every tick and stored as a first-class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architectural decision: SQLite is the message bus. Neither process imports the other. Manual actions pass through the same safety guards as automatic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interface is a JSON API first; the phone app is its first consumer. Recent readings stay visible when the network drops, marked with their age rather than presented as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answers 'what if it breaks'. Safety is enforced at three levels that fail independently, and is verified by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primary design constraint of the whole build: adding a sensor must not touch storage, API or UI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Phase 2 target is chosen and singular: moisture decay forecasting. Everything in Phase 1's data model exists to make that possible later, because it cannot be backfilled.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discipline point: the calibration step before automation is what separates a system that works from one that merely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1A"/>
        </a:solidFill>
      </p:bgPr>
    </p:bg>
    <p:spTree>
      <p:nvGrpSpPr>
        <p:cNvPr id="1" name=""/>
        <p:cNvGrpSpPr/>
        <p:nvPr/>
      </p:nvGrpSpPr>
      <p:grpSpPr>
        <a:xfrm>
          <a:off x="0" y="0"/>
          <a:ext cx="0" cy="0"/>
          <a:chOff x="0" y="0"/>
          <a:chExt cx="0" cy="0"/>
        </a:xfrm>
      </p:grpSpPr>
      <p:sp>
        <p:nvSpPr>
          <p:cNvPr id="2" name="Shape 0"/>
          <p:cNvSpPr/>
          <p:nvPr/>
        </p:nvSpPr>
        <p:spPr>
          <a:xfrm>
            <a:off x="8686800" y="548640"/>
            <a:ext cx="5669280" cy="5669280"/>
          </a:xfrm>
          <a:prstGeom prst="ellipse">
            <a:avLst/>
          </a:prstGeom>
          <a:solidFill>
            <a:srgbClr val="1E3D22"/>
          </a:solidFill>
          <a:ln w="12700">
            <a:solidFill>
              <a:srgbClr val="1E3D22"/>
            </a:solidFill>
            <a:prstDash val="solid"/>
          </a:ln>
        </p:spPr>
      </p:sp>
      <p:sp>
        <p:nvSpPr>
          <p:cNvPr id="3" name="Shape 1"/>
          <p:cNvSpPr/>
          <p:nvPr/>
        </p:nvSpPr>
        <p:spPr>
          <a:xfrm>
            <a:off x="9692640" y="1554480"/>
            <a:ext cx="3657600" cy="3657600"/>
          </a:xfrm>
          <a:prstGeom prst="ellipse">
            <a:avLst/>
          </a:prstGeom>
          <a:solidFill>
            <a:srgbClr val="26482A"/>
          </a:solidFill>
          <a:ln w="12700">
            <a:solidFill>
              <a:srgbClr val="26482A"/>
            </a:solidFill>
            <a:prstDash val="solid"/>
          </a:ln>
        </p:spPr>
      </p:sp>
      <p:sp>
        <p:nvSpPr>
          <p:cNvPr id="4" name="Shape 2"/>
          <p:cNvSpPr/>
          <p:nvPr/>
        </p:nvSpPr>
        <p:spPr>
          <a:xfrm>
            <a:off x="10424160" y="2286000"/>
            <a:ext cx="2194560" cy="2194560"/>
          </a:xfrm>
          <a:prstGeom prst="ellipse">
            <a:avLst/>
          </a:prstGeom>
          <a:solidFill>
            <a:srgbClr val="2C5F2D"/>
          </a:solidFill>
          <a:ln w="12700">
            <a:solidFill>
              <a:srgbClr val="2C5F2D"/>
            </a:solidFill>
            <a:prstDash val="solid"/>
          </a:ln>
        </p:spPr>
      </p:sp>
      <p:sp>
        <p:nvSpPr>
          <p:cNvPr id="5" name="Text 3"/>
          <p:cNvSpPr txBox="1"/>
          <p:nvPr/>
        </p:nvSpPr>
        <p:spPr>
          <a:xfrm>
            <a:off x="822960" y="1965960"/>
            <a:ext cx="7863840" cy="100584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SmartGarden</a:t>
            </a:r>
            <a:endParaRPr lang="en-US" sz="6000" dirty="0"/>
          </a:p>
        </p:txBody>
      </p:sp>
      <p:sp>
        <p:nvSpPr>
          <p:cNvPr id="6" name="Text 4"/>
          <p:cNvSpPr txBox="1"/>
          <p:nvPr/>
        </p:nvSpPr>
        <p:spPr>
          <a:xfrm>
            <a:off x="822960" y="2971800"/>
            <a:ext cx="7680960" cy="457200"/>
          </a:xfrm>
          <a:prstGeom prst="rect">
            <a:avLst/>
          </a:prstGeom>
          <a:noFill/>
          <a:ln/>
        </p:spPr>
        <p:txBody>
          <a:bodyPr wrap="square" lIns="0" tIns="0" rIns="0" bIns="0" rtlCol="0" anchor="ctr"/>
          <a:lstStyle/>
          <a:p>
            <a:pPr indent="0" marL="0">
              <a:buNone/>
            </a:pPr>
            <a:r>
              <a:rPr lang="en-US" sz="2000" dirty="0">
                <a:solidFill>
                  <a:srgbClr val="97BC62"/>
                </a:solidFill>
                <a:latin typeface="Calibri" pitchFamily="34" charset="0"/>
                <a:ea typeface="Calibri" pitchFamily="34" charset="-122"/>
                <a:cs typeface="Calibri" pitchFamily="34" charset="-120"/>
              </a:rPr>
              <a:t>A garden that measures, decides and waters itself.</a:t>
            </a:r>
            <a:endParaRPr lang="en-US" sz="2000" dirty="0"/>
          </a:p>
        </p:txBody>
      </p:sp>
      <p:sp>
        <p:nvSpPr>
          <p:cNvPr id="7" name="Text 5"/>
          <p:cNvSpPr txBox="1"/>
          <p:nvPr/>
        </p:nvSpPr>
        <p:spPr>
          <a:xfrm>
            <a:off x="822960" y="3520440"/>
            <a:ext cx="7315200" cy="822960"/>
          </a:xfrm>
          <a:prstGeom prst="rect">
            <a:avLst/>
          </a:prstGeom>
          <a:noFill/>
          <a:ln/>
        </p:spPr>
        <p:txBody>
          <a:bodyPr wrap="square" lIns="0" tIns="0" rIns="0" bIns="0" rtlCol="0" anchor="t"/>
          <a:lstStyle/>
          <a:p>
            <a:pPr indent="0" marL="0">
              <a:lnSpc>
                <a:spcPts val="2200"/>
              </a:lnSpc>
              <a:buNone/>
            </a:pPr>
            <a:r>
              <a:rPr lang="en-US" sz="1400" dirty="0">
                <a:solidFill>
                  <a:srgbClr val="B9C7BB"/>
                </a:solidFill>
                <a:latin typeface="Calibri" pitchFamily="34" charset="0"/>
                <a:ea typeface="Calibri" pitchFamily="34" charset="-122"/>
                <a:cs typeface="Calibri" pitchFamily="34" charset="-120"/>
              </a:rPr>
              <a:t>Three plants on a kitchen windowsill today. Dozens of beds across a garden later — without a rewrite in between.</a:t>
            </a:r>
            <a:endParaRPr lang="en-US" sz="1400" dirty="0"/>
          </a:p>
        </p:txBody>
      </p:sp>
      <p:sp>
        <p:nvSpPr>
          <p:cNvPr id="8" name="Text 6"/>
          <p:cNvSpPr txBox="1"/>
          <p:nvPr/>
        </p:nvSpPr>
        <p:spPr>
          <a:xfrm>
            <a:off x="822960" y="5806440"/>
            <a:ext cx="7680960" cy="320040"/>
          </a:xfrm>
          <a:prstGeom prst="rect">
            <a:avLst/>
          </a:prstGeom>
          <a:noFill/>
          <a:ln/>
        </p:spPr>
        <p:txBody>
          <a:bodyPr wrap="square" lIns="0" tIns="0" rIns="0" bIns="0" rtlCol="0" anchor="ctr"/>
          <a:lstStyle/>
          <a:p>
            <a:pPr indent="0" marL="0">
              <a:buNone/>
            </a:pPr>
            <a:r>
              <a:rPr lang="en-US" sz="1200" dirty="0">
                <a:solidFill>
                  <a:srgbClr val="7E8E80"/>
                </a:solidFill>
                <a:latin typeface="Calibri" pitchFamily="34" charset="0"/>
                <a:ea typeface="Calibri" pitchFamily="34" charset="-122"/>
                <a:cs typeface="Calibri" pitchFamily="34" charset="-120"/>
              </a:rPr>
              <a:t>Phase 1 blueprint  ·  Rev A  ·  September 2026  ·  Slav Petkovic</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t"/>
          <a:lstStyle/>
          <a:p>
            <a:pPr indent="0" marL="0">
              <a:buNone/>
            </a:pPr>
            <a:r>
              <a:rPr lang="en-US" sz="3400" b="1" dirty="0">
                <a:solidFill>
                  <a:srgbClr val="1F2A20"/>
                </a:solidFill>
                <a:latin typeface="Cambria" pitchFamily="34" charset="0"/>
                <a:ea typeface="Cambria" pitchFamily="34" charset="-122"/>
                <a:cs typeface="Cambria" pitchFamily="34" charset="-120"/>
              </a:rPr>
              <a:t>Growing things is a data problem solved by guesswork</a:t>
            </a:r>
            <a:endParaRPr lang="en-US" sz="3400" dirty="0"/>
          </a:p>
        </p:txBody>
      </p:sp>
      <p:sp>
        <p:nvSpPr>
          <p:cNvPr id="4" name="Shape 2"/>
          <p:cNvSpPr/>
          <p:nvPr/>
        </p:nvSpPr>
        <p:spPr>
          <a:xfrm>
            <a:off x="640080" y="1828800"/>
            <a:ext cx="10881360" cy="1298448"/>
          </a:xfrm>
          <a:prstGeom prst="roundRect">
            <a:avLst>
              <a:gd name="adj" fmla="val 6338"/>
            </a:avLst>
          </a:prstGeom>
          <a:solidFill>
            <a:srgbClr val="EFF4ED"/>
          </a:solidFill>
          <a:ln w="12700">
            <a:solidFill>
              <a:srgbClr val="EFF4ED"/>
            </a:solidFill>
            <a:prstDash val="solid"/>
          </a:ln>
          <a:effectLst>
            <a:outerShdw sx="100000" sy="100000" kx="0" ky="0" algn="bl" rotWithShape="0" blurRad="127000" dist="25400" dir="5400000">
              <a:srgbClr val="9BAA9D">
                <a:alpha val="28000"/>
              </a:srgbClr>
            </a:outerShdw>
          </a:effectLst>
        </p:spPr>
      </p:sp>
      <p:sp>
        <p:nvSpPr>
          <p:cNvPr id="5" name="Shape 3"/>
          <p:cNvSpPr/>
          <p:nvPr/>
        </p:nvSpPr>
        <p:spPr>
          <a:xfrm>
            <a:off x="960120" y="2194560"/>
            <a:ext cx="566928" cy="566928"/>
          </a:xfrm>
          <a:prstGeom prst="ellipse">
            <a:avLst/>
          </a:prstGeom>
          <a:solidFill>
            <a:srgbClr val="2C5F2D"/>
          </a:solidFill>
          <a:ln w="12700">
            <a:solidFill>
              <a:srgbClr val="2C5F2D"/>
            </a:solidFill>
            <a:prstDash val="solid"/>
          </a:ln>
        </p:spPr>
      </p:sp>
      <p:sp>
        <p:nvSpPr>
          <p:cNvPr id="6" name="Text 4"/>
          <p:cNvSpPr txBox="1"/>
          <p:nvPr/>
        </p:nvSpPr>
        <p:spPr>
          <a:xfrm>
            <a:off x="960120" y="219456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7" name="Text 5"/>
          <p:cNvSpPr txBox="1"/>
          <p:nvPr/>
        </p:nvSpPr>
        <p:spPr>
          <a:xfrm>
            <a:off x="1783080" y="2084832"/>
            <a:ext cx="9052560" cy="329184"/>
          </a:xfrm>
          <a:prstGeom prst="rect">
            <a:avLst/>
          </a:prstGeom>
          <a:noFill/>
          <a:ln/>
        </p:spPr>
        <p:txBody>
          <a:bodyPr wrap="square" lIns="0" tIns="0" rIns="0" bIns="0" rtlCol="0" anchor="ctr"/>
          <a:lstStyle/>
          <a:p>
            <a:pPr indent="0" marL="0">
              <a:buNone/>
            </a:pPr>
            <a:r>
              <a:rPr lang="en-US" sz="1700" b="1" dirty="0">
                <a:solidFill>
                  <a:srgbClr val="1F2A20"/>
                </a:solidFill>
                <a:latin typeface="Calibri" pitchFamily="34" charset="0"/>
                <a:ea typeface="Calibri" pitchFamily="34" charset="-122"/>
                <a:cs typeface="Calibri" pitchFamily="34" charset="-120"/>
              </a:rPr>
              <a:t>Schedules ignore reality</a:t>
            </a:r>
            <a:endParaRPr lang="en-US" sz="1700" dirty="0"/>
          </a:p>
        </p:txBody>
      </p:sp>
      <p:sp>
        <p:nvSpPr>
          <p:cNvPr id="8" name="Text 6"/>
          <p:cNvSpPr txBox="1"/>
          <p:nvPr/>
        </p:nvSpPr>
        <p:spPr>
          <a:xfrm>
            <a:off x="1783080" y="2441448"/>
            <a:ext cx="9326880" cy="502920"/>
          </a:xfrm>
          <a:prstGeom prst="rect">
            <a:avLst/>
          </a:prstGeom>
          <a:noFill/>
          <a:ln/>
        </p:spPr>
        <p:txBody>
          <a:bodyPr wrap="square" lIns="0" tIns="0" rIns="0" bIns="0" rtlCol="0" anchor="t"/>
          <a:lstStyle/>
          <a:p>
            <a:pPr indent="0" marL="0">
              <a:lnSpc>
                <a:spcPts val="1700"/>
              </a:lnSpc>
              <a:buNone/>
            </a:pPr>
            <a:r>
              <a:rPr lang="en-US" sz="1300" dirty="0">
                <a:solidFill>
                  <a:srgbClr val="56635A"/>
                </a:solidFill>
                <a:latin typeface="Calibri" pitchFamily="34" charset="0"/>
                <a:ea typeface="Calibri" pitchFamily="34" charset="-122"/>
                <a:cs typeface="Calibri" pitchFamily="34" charset="-120"/>
              </a:rPr>
              <a:t>Watering every Sunday takes no account of heat, humidity or how much light a plant actually received that week.</a:t>
            </a:r>
            <a:endParaRPr lang="en-US" sz="1300" dirty="0"/>
          </a:p>
        </p:txBody>
      </p:sp>
      <p:sp>
        <p:nvSpPr>
          <p:cNvPr id="9" name="Shape 7"/>
          <p:cNvSpPr/>
          <p:nvPr/>
        </p:nvSpPr>
        <p:spPr>
          <a:xfrm>
            <a:off x="640080" y="3364992"/>
            <a:ext cx="10881360" cy="1298448"/>
          </a:xfrm>
          <a:prstGeom prst="roundRect">
            <a:avLst>
              <a:gd name="adj" fmla="val 6338"/>
            </a:avLst>
          </a:prstGeom>
          <a:solidFill>
            <a:srgbClr val="EFF4ED"/>
          </a:solidFill>
          <a:ln w="12700">
            <a:solidFill>
              <a:srgbClr val="EFF4ED"/>
            </a:solidFill>
            <a:prstDash val="solid"/>
          </a:ln>
          <a:effectLst>
            <a:outerShdw sx="100000" sy="100000" kx="0" ky="0" algn="bl" rotWithShape="0" blurRad="127000" dist="25400" dir="5400000">
              <a:srgbClr val="9BAA9D">
                <a:alpha val="28000"/>
              </a:srgbClr>
            </a:outerShdw>
          </a:effectLst>
        </p:spPr>
      </p:sp>
      <p:sp>
        <p:nvSpPr>
          <p:cNvPr id="10" name="Shape 8"/>
          <p:cNvSpPr/>
          <p:nvPr/>
        </p:nvSpPr>
        <p:spPr>
          <a:xfrm>
            <a:off x="960120" y="3730752"/>
            <a:ext cx="566928" cy="566928"/>
          </a:xfrm>
          <a:prstGeom prst="ellipse">
            <a:avLst/>
          </a:prstGeom>
          <a:solidFill>
            <a:srgbClr val="2C5F2D"/>
          </a:solidFill>
          <a:ln w="12700">
            <a:solidFill>
              <a:srgbClr val="2C5F2D"/>
            </a:solidFill>
            <a:prstDash val="solid"/>
          </a:ln>
        </p:spPr>
      </p:sp>
      <p:sp>
        <p:nvSpPr>
          <p:cNvPr id="11" name="Text 9"/>
          <p:cNvSpPr txBox="1"/>
          <p:nvPr/>
        </p:nvSpPr>
        <p:spPr>
          <a:xfrm>
            <a:off x="960120" y="3730752"/>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2" name="Text 10"/>
          <p:cNvSpPr txBox="1"/>
          <p:nvPr/>
        </p:nvSpPr>
        <p:spPr>
          <a:xfrm>
            <a:off x="1783080" y="3621024"/>
            <a:ext cx="9052560" cy="329184"/>
          </a:xfrm>
          <a:prstGeom prst="rect">
            <a:avLst/>
          </a:prstGeom>
          <a:noFill/>
          <a:ln/>
        </p:spPr>
        <p:txBody>
          <a:bodyPr wrap="square" lIns="0" tIns="0" rIns="0" bIns="0" rtlCol="0" anchor="ctr"/>
          <a:lstStyle/>
          <a:p>
            <a:pPr indent="0" marL="0">
              <a:buNone/>
            </a:pPr>
            <a:r>
              <a:rPr lang="en-US" sz="1700" b="1" dirty="0">
                <a:solidFill>
                  <a:srgbClr val="1F2A20"/>
                </a:solidFill>
                <a:latin typeface="Calibri" pitchFamily="34" charset="0"/>
                <a:ea typeface="Calibri" pitchFamily="34" charset="-122"/>
                <a:cs typeface="Calibri" pitchFamily="34" charset="-120"/>
              </a:rPr>
              <a:t>The signal exists — nobody reads it</a:t>
            </a:r>
            <a:endParaRPr lang="en-US" sz="1700" dirty="0"/>
          </a:p>
        </p:txBody>
      </p:sp>
      <p:sp>
        <p:nvSpPr>
          <p:cNvPr id="13" name="Text 11"/>
          <p:cNvSpPr txBox="1"/>
          <p:nvPr/>
        </p:nvSpPr>
        <p:spPr>
          <a:xfrm>
            <a:off x="1783080" y="3977640"/>
            <a:ext cx="9326880" cy="502920"/>
          </a:xfrm>
          <a:prstGeom prst="rect">
            <a:avLst/>
          </a:prstGeom>
          <a:noFill/>
          <a:ln/>
        </p:spPr>
        <p:txBody>
          <a:bodyPr wrap="square" lIns="0" tIns="0" rIns="0" bIns="0" rtlCol="0" anchor="t"/>
          <a:lstStyle/>
          <a:p>
            <a:pPr indent="0" marL="0">
              <a:lnSpc>
                <a:spcPts val="1700"/>
              </a:lnSpc>
              <a:buNone/>
            </a:pPr>
            <a:r>
              <a:rPr lang="en-US" sz="1300" dirty="0">
                <a:solidFill>
                  <a:srgbClr val="56635A"/>
                </a:solidFill>
                <a:latin typeface="Calibri" pitchFamily="34" charset="0"/>
                <a:ea typeface="Calibri" pitchFamily="34" charset="-122"/>
                <a:cs typeface="Calibri" pitchFamily="34" charset="-120"/>
              </a:rPr>
              <a:t>Soil moisture, light and vapour pressure deficit are cheap to measure. Almost no one measures them, so care stays a guess.</a:t>
            </a:r>
            <a:endParaRPr lang="en-US" sz="1300" dirty="0"/>
          </a:p>
        </p:txBody>
      </p:sp>
      <p:sp>
        <p:nvSpPr>
          <p:cNvPr id="14" name="Shape 12"/>
          <p:cNvSpPr/>
          <p:nvPr/>
        </p:nvSpPr>
        <p:spPr>
          <a:xfrm>
            <a:off x="640080" y="4901184"/>
            <a:ext cx="10881360" cy="1298448"/>
          </a:xfrm>
          <a:prstGeom prst="roundRect">
            <a:avLst>
              <a:gd name="adj" fmla="val 6338"/>
            </a:avLst>
          </a:prstGeom>
          <a:solidFill>
            <a:srgbClr val="EFF4ED"/>
          </a:solidFill>
          <a:ln w="12700">
            <a:solidFill>
              <a:srgbClr val="EFF4ED"/>
            </a:solidFill>
            <a:prstDash val="solid"/>
          </a:ln>
          <a:effectLst>
            <a:outerShdw sx="100000" sy="100000" kx="0" ky="0" algn="bl" rotWithShape="0" blurRad="127000" dist="25400" dir="5400000">
              <a:srgbClr val="9BAA9D">
                <a:alpha val="28000"/>
              </a:srgbClr>
            </a:outerShdw>
          </a:effectLst>
        </p:spPr>
      </p:sp>
      <p:sp>
        <p:nvSpPr>
          <p:cNvPr id="15" name="Shape 13"/>
          <p:cNvSpPr/>
          <p:nvPr/>
        </p:nvSpPr>
        <p:spPr>
          <a:xfrm>
            <a:off x="960120" y="5266944"/>
            <a:ext cx="566928" cy="566928"/>
          </a:xfrm>
          <a:prstGeom prst="ellipse">
            <a:avLst/>
          </a:prstGeom>
          <a:solidFill>
            <a:srgbClr val="2C5F2D"/>
          </a:solidFill>
          <a:ln w="12700">
            <a:solidFill>
              <a:srgbClr val="2C5F2D"/>
            </a:solidFill>
            <a:prstDash val="solid"/>
          </a:ln>
        </p:spPr>
      </p:sp>
      <p:sp>
        <p:nvSpPr>
          <p:cNvPr id="16" name="Text 14"/>
          <p:cNvSpPr txBox="1"/>
          <p:nvPr/>
        </p:nvSpPr>
        <p:spPr>
          <a:xfrm>
            <a:off x="960120" y="5266944"/>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7" name="Text 15"/>
          <p:cNvSpPr txBox="1"/>
          <p:nvPr/>
        </p:nvSpPr>
        <p:spPr>
          <a:xfrm>
            <a:off x="1783080" y="5157216"/>
            <a:ext cx="9052560" cy="329184"/>
          </a:xfrm>
          <a:prstGeom prst="rect">
            <a:avLst/>
          </a:prstGeom>
          <a:noFill/>
          <a:ln/>
        </p:spPr>
        <p:txBody>
          <a:bodyPr wrap="square" lIns="0" tIns="0" rIns="0" bIns="0" rtlCol="0" anchor="ctr"/>
          <a:lstStyle/>
          <a:p>
            <a:pPr indent="0" marL="0">
              <a:buNone/>
            </a:pPr>
            <a:r>
              <a:rPr lang="en-US" sz="1700" b="1" dirty="0">
                <a:solidFill>
                  <a:srgbClr val="1F2A20"/>
                </a:solidFill>
                <a:latin typeface="Calibri" pitchFamily="34" charset="0"/>
                <a:ea typeface="Calibri" pitchFamily="34" charset="-122"/>
                <a:cs typeface="Calibri" pitchFamily="34" charset="-120"/>
              </a:rPr>
              <a:t>Failure is silent</a:t>
            </a:r>
            <a:endParaRPr lang="en-US" sz="1700" dirty="0"/>
          </a:p>
        </p:txBody>
      </p:sp>
      <p:sp>
        <p:nvSpPr>
          <p:cNvPr id="18" name="Text 16"/>
          <p:cNvSpPr txBox="1"/>
          <p:nvPr/>
        </p:nvSpPr>
        <p:spPr>
          <a:xfrm>
            <a:off x="1783080" y="5513832"/>
            <a:ext cx="9326880" cy="502920"/>
          </a:xfrm>
          <a:prstGeom prst="rect">
            <a:avLst/>
          </a:prstGeom>
          <a:noFill/>
          <a:ln/>
        </p:spPr>
        <p:txBody>
          <a:bodyPr wrap="square" lIns="0" tIns="0" rIns="0" bIns="0" rtlCol="0" anchor="t"/>
          <a:lstStyle/>
          <a:p>
            <a:pPr indent="0" marL="0">
              <a:lnSpc>
                <a:spcPts val="1700"/>
              </a:lnSpc>
              <a:buNone/>
            </a:pPr>
            <a:r>
              <a:rPr lang="en-US" sz="1300" dirty="0">
                <a:solidFill>
                  <a:srgbClr val="56635A"/>
                </a:solidFill>
                <a:latin typeface="Calibri" pitchFamily="34" charset="0"/>
                <a:ea typeface="Calibri" pitchFamily="34" charset="-122"/>
                <a:cs typeface="Calibri" pitchFamily="34" charset="-120"/>
              </a:rPr>
              <a:t>A plant under stress looks fine for days, then doesn't. By the time the symptom is visible the damage is already done.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THE SYSTEM</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t"/>
          <a:lstStyle/>
          <a:p>
            <a:pPr indent="0" marL="0">
              <a:buNone/>
            </a:pPr>
            <a:r>
              <a:rPr lang="en-US" sz="3400" b="1" dirty="0">
                <a:solidFill>
                  <a:srgbClr val="1F2A20"/>
                </a:solidFill>
                <a:latin typeface="Cambria" pitchFamily="34" charset="0"/>
                <a:ea typeface="Cambria" pitchFamily="34" charset="-122"/>
                <a:cs typeface="Cambria" pitchFamily="34" charset="-120"/>
              </a:rPr>
              <a:t>A closed loop that runs entirely on your own hardware</a:t>
            </a:r>
            <a:endParaRPr lang="en-US" sz="3400" dirty="0"/>
          </a:p>
        </p:txBody>
      </p:sp>
      <p:sp>
        <p:nvSpPr>
          <p:cNvPr id="4" name="Text 2"/>
          <p:cNvSpPr txBox="1"/>
          <p:nvPr/>
        </p:nvSpPr>
        <p:spPr>
          <a:xfrm>
            <a:off x="640080" y="1572768"/>
            <a:ext cx="10881360" cy="822960"/>
          </a:xfrm>
          <a:prstGeom prst="rect">
            <a:avLst/>
          </a:prstGeom>
          <a:noFill/>
          <a:ln/>
        </p:spPr>
        <p:txBody>
          <a:bodyPr wrap="square" lIns="0" tIns="0" rIns="0" bIns="0" rtlCol="0" anchor="t"/>
          <a:lstStyle/>
          <a:p>
            <a:pPr indent="0" marL="0">
              <a:lnSpc>
                <a:spcPts val="2400"/>
              </a:lnSpc>
              <a:buNone/>
            </a:pPr>
            <a:r>
              <a:rPr lang="en-US" sz="1500" dirty="0">
                <a:solidFill>
                  <a:srgbClr val="56635A"/>
                </a:solidFill>
                <a:latin typeface="Calibri" pitchFamily="34" charset="0"/>
                <a:ea typeface="Calibri" pitchFamily="34" charset="-122"/>
                <a:cs typeface="Calibri" pitchFamily="34" charset="-120"/>
              </a:rPr>
              <a:t>A Raspberry Pi 5 reads air, light and soil every few seconds, stores every measurement, decides when to water and when to supplement light, and does it — logging the reason for every decision it makes. No cloud service, no subscription, no account.</a:t>
            </a:r>
            <a:endParaRPr lang="en-US" sz="1500" dirty="0"/>
          </a:p>
        </p:txBody>
      </p:sp>
      <p:sp>
        <p:nvSpPr>
          <p:cNvPr id="5" name="Shape 3"/>
          <p:cNvSpPr/>
          <p:nvPr/>
        </p:nvSpPr>
        <p:spPr>
          <a:xfrm>
            <a:off x="640080" y="2606040"/>
            <a:ext cx="2514600" cy="1691640"/>
          </a:xfrm>
          <a:prstGeom prst="roundRect">
            <a:avLst>
              <a:gd name="adj" fmla="val 4865"/>
            </a:avLst>
          </a:prstGeom>
          <a:solidFill>
            <a:srgbClr val="2C5F2D"/>
          </a:solidFill>
          <a:ln w="12700">
            <a:solidFill>
              <a:srgbClr val="2C5F2D"/>
            </a:solidFill>
            <a:prstDash val="solid"/>
          </a:ln>
          <a:effectLst>
            <a:outerShdw sx="100000" sy="100000" kx="0" ky="0" algn="bl" rotWithShape="0" blurRad="127000" dist="25400" dir="5400000">
              <a:srgbClr val="9BAA9D">
                <a:alpha val="28000"/>
              </a:srgbClr>
            </a:outerShdw>
          </a:effectLst>
        </p:spPr>
      </p:sp>
      <p:sp>
        <p:nvSpPr>
          <p:cNvPr id="6" name="Text 4"/>
          <p:cNvSpPr txBox="1"/>
          <p:nvPr/>
        </p:nvSpPr>
        <p:spPr>
          <a:xfrm>
            <a:off x="822960" y="2788920"/>
            <a:ext cx="2148840" cy="658368"/>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3</a:t>
            </a:r>
            <a:endParaRPr lang="en-US" sz="4400" dirty="0"/>
          </a:p>
        </p:txBody>
      </p:sp>
      <p:sp>
        <p:nvSpPr>
          <p:cNvPr id="7" name="Text 5"/>
          <p:cNvSpPr txBox="1"/>
          <p:nvPr/>
        </p:nvSpPr>
        <p:spPr>
          <a:xfrm>
            <a:off x="777240" y="3493008"/>
            <a:ext cx="224028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sensor types</a:t>
            </a:r>
            <a:endParaRPr lang="en-US" sz="1300" dirty="0"/>
          </a:p>
        </p:txBody>
      </p:sp>
      <p:sp>
        <p:nvSpPr>
          <p:cNvPr id="8" name="Text 6"/>
          <p:cNvSpPr txBox="1"/>
          <p:nvPr/>
        </p:nvSpPr>
        <p:spPr>
          <a:xfrm>
            <a:off x="777240" y="3767328"/>
            <a:ext cx="2240280" cy="274320"/>
          </a:xfrm>
          <a:prstGeom prst="rect">
            <a:avLst/>
          </a:prstGeom>
          <a:noFill/>
          <a:ln/>
        </p:spPr>
        <p:txBody>
          <a:bodyPr wrap="square" lIns="0" tIns="0" rIns="0" bIns="0" rtlCol="0" anchor="ctr"/>
          <a:lstStyle/>
          <a:p>
            <a:pPr algn="ctr" indent="0" marL="0">
              <a:buNone/>
            </a:pPr>
            <a:r>
              <a:rPr lang="en-US" sz="1100" dirty="0">
                <a:solidFill>
                  <a:srgbClr val="97BC62"/>
                </a:solidFill>
                <a:latin typeface="Calibri" pitchFamily="34" charset="0"/>
                <a:ea typeface="Calibri" pitchFamily="34" charset="-122"/>
                <a:cs typeface="Calibri" pitchFamily="34" charset="-120"/>
              </a:rPr>
              <a:t>air · light · soil</a:t>
            </a:r>
            <a:endParaRPr lang="en-US" sz="1100" dirty="0"/>
          </a:p>
        </p:txBody>
      </p:sp>
      <p:sp>
        <p:nvSpPr>
          <p:cNvPr id="9" name="Shape 7"/>
          <p:cNvSpPr/>
          <p:nvPr/>
        </p:nvSpPr>
        <p:spPr>
          <a:xfrm>
            <a:off x="3429000" y="2606040"/>
            <a:ext cx="2514600" cy="1691640"/>
          </a:xfrm>
          <a:prstGeom prst="roundRect">
            <a:avLst>
              <a:gd name="adj" fmla="val 4865"/>
            </a:avLst>
          </a:prstGeom>
          <a:solidFill>
            <a:srgbClr val="2C5F2D"/>
          </a:solidFill>
          <a:ln w="12700">
            <a:solidFill>
              <a:srgbClr val="2C5F2D"/>
            </a:solidFill>
            <a:prstDash val="solid"/>
          </a:ln>
          <a:effectLst>
            <a:outerShdw sx="100000" sy="100000" kx="0" ky="0" algn="bl" rotWithShape="0" blurRad="127000" dist="25400" dir="5400000">
              <a:srgbClr val="9BAA9D">
                <a:alpha val="28000"/>
              </a:srgbClr>
            </a:outerShdw>
          </a:effectLst>
        </p:spPr>
      </p:sp>
      <p:sp>
        <p:nvSpPr>
          <p:cNvPr id="10" name="Text 8"/>
          <p:cNvSpPr txBox="1"/>
          <p:nvPr/>
        </p:nvSpPr>
        <p:spPr>
          <a:xfrm>
            <a:off x="3611880" y="2788920"/>
            <a:ext cx="2148840" cy="658368"/>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10s</a:t>
            </a:r>
            <a:endParaRPr lang="en-US" sz="4400" dirty="0"/>
          </a:p>
        </p:txBody>
      </p:sp>
      <p:sp>
        <p:nvSpPr>
          <p:cNvPr id="11" name="Text 9"/>
          <p:cNvSpPr txBox="1"/>
          <p:nvPr/>
        </p:nvSpPr>
        <p:spPr>
          <a:xfrm>
            <a:off x="3566160" y="3493008"/>
            <a:ext cx="224028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measurement tick</a:t>
            </a:r>
            <a:endParaRPr lang="en-US" sz="1300" dirty="0"/>
          </a:p>
        </p:txBody>
      </p:sp>
      <p:sp>
        <p:nvSpPr>
          <p:cNvPr id="12" name="Text 10"/>
          <p:cNvSpPr txBox="1"/>
          <p:nvPr/>
        </p:nvSpPr>
        <p:spPr>
          <a:xfrm>
            <a:off x="3566160" y="3767328"/>
            <a:ext cx="2240280" cy="274320"/>
          </a:xfrm>
          <a:prstGeom prst="rect">
            <a:avLst/>
          </a:prstGeom>
          <a:noFill/>
          <a:ln/>
        </p:spPr>
        <p:txBody>
          <a:bodyPr wrap="square" lIns="0" tIns="0" rIns="0" bIns="0" rtlCol="0" anchor="ctr"/>
          <a:lstStyle/>
          <a:p>
            <a:pPr algn="ctr" indent="0" marL="0">
              <a:buNone/>
            </a:pPr>
            <a:r>
              <a:rPr lang="en-US" sz="1100" dirty="0">
                <a:solidFill>
                  <a:srgbClr val="97BC62"/>
                </a:solidFill>
                <a:latin typeface="Calibri" pitchFamily="34" charset="0"/>
                <a:ea typeface="Calibri" pitchFamily="34" charset="-122"/>
                <a:cs typeface="Calibri" pitchFamily="34" charset="-120"/>
              </a:rPr>
              <a:t>60s for soil</a:t>
            </a:r>
            <a:endParaRPr lang="en-US" sz="1100" dirty="0"/>
          </a:p>
        </p:txBody>
      </p:sp>
      <p:sp>
        <p:nvSpPr>
          <p:cNvPr id="13" name="Shape 11"/>
          <p:cNvSpPr/>
          <p:nvPr/>
        </p:nvSpPr>
        <p:spPr>
          <a:xfrm>
            <a:off x="6217920" y="2606040"/>
            <a:ext cx="2514600" cy="1691640"/>
          </a:xfrm>
          <a:prstGeom prst="roundRect">
            <a:avLst>
              <a:gd name="adj" fmla="val 4865"/>
            </a:avLst>
          </a:prstGeom>
          <a:solidFill>
            <a:srgbClr val="2C5F2D"/>
          </a:solidFill>
          <a:ln w="12700">
            <a:solidFill>
              <a:srgbClr val="2C5F2D"/>
            </a:solidFill>
            <a:prstDash val="solid"/>
          </a:ln>
          <a:effectLst>
            <a:outerShdw sx="100000" sy="100000" kx="0" ky="0" algn="bl" rotWithShape="0" blurRad="127000" dist="25400" dir="5400000">
              <a:srgbClr val="9BAA9D">
                <a:alpha val="28000"/>
              </a:srgbClr>
            </a:outerShdw>
          </a:effectLst>
        </p:spPr>
      </p:sp>
      <p:sp>
        <p:nvSpPr>
          <p:cNvPr id="14" name="Text 12"/>
          <p:cNvSpPr txBox="1"/>
          <p:nvPr/>
        </p:nvSpPr>
        <p:spPr>
          <a:xfrm>
            <a:off x="6400800" y="2788920"/>
            <a:ext cx="2148840" cy="658368"/>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100%</a:t>
            </a:r>
            <a:endParaRPr lang="en-US" sz="4400" dirty="0"/>
          </a:p>
        </p:txBody>
      </p:sp>
      <p:sp>
        <p:nvSpPr>
          <p:cNvPr id="15" name="Text 13"/>
          <p:cNvSpPr txBox="1"/>
          <p:nvPr/>
        </p:nvSpPr>
        <p:spPr>
          <a:xfrm>
            <a:off x="6355080" y="3493008"/>
            <a:ext cx="224028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local</a:t>
            </a:r>
            <a:endParaRPr lang="en-US" sz="1300" dirty="0"/>
          </a:p>
        </p:txBody>
      </p:sp>
      <p:sp>
        <p:nvSpPr>
          <p:cNvPr id="16" name="Text 14"/>
          <p:cNvSpPr txBox="1"/>
          <p:nvPr/>
        </p:nvSpPr>
        <p:spPr>
          <a:xfrm>
            <a:off x="6355080" y="3767328"/>
            <a:ext cx="2240280" cy="274320"/>
          </a:xfrm>
          <a:prstGeom prst="rect">
            <a:avLst/>
          </a:prstGeom>
          <a:noFill/>
          <a:ln/>
        </p:spPr>
        <p:txBody>
          <a:bodyPr wrap="square" lIns="0" tIns="0" rIns="0" bIns="0" rtlCol="0" anchor="ctr"/>
          <a:lstStyle/>
          <a:p>
            <a:pPr algn="ctr" indent="0" marL="0">
              <a:buNone/>
            </a:pPr>
            <a:r>
              <a:rPr lang="en-US" sz="1100" dirty="0">
                <a:solidFill>
                  <a:srgbClr val="97BC62"/>
                </a:solidFill>
                <a:latin typeface="Calibri" pitchFamily="34" charset="0"/>
                <a:ea typeface="Calibri" pitchFamily="34" charset="-122"/>
                <a:cs typeface="Calibri" pitchFamily="34" charset="-120"/>
              </a:rPr>
              <a:t>no cloud dependency</a:t>
            </a:r>
            <a:endParaRPr lang="en-US" sz="1100" dirty="0"/>
          </a:p>
        </p:txBody>
      </p:sp>
      <p:sp>
        <p:nvSpPr>
          <p:cNvPr id="17" name="Shape 15"/>
          <p:cNvSpPr/>
          <p:nvPr/>
        </p:nvSpPr>
        <p:spPr>
          <a:xfrm>
            <a:off x="9006840" y="2606040"/>
            <a:ext cx="2514600" cy="1691640"/>
          </a:xfrm>
          <a:prstGeom prst="roundRect">
            <a:avLst>
              <a:gd name="adj" fmla="val 4865"/>
            </a:avLst>
          </a:prstGeom>
          <a:solidFill>
            <a:srgbClr val="2C5F2D"/>
          </a:solidFill>
          <a:ln w="12700">
            <a:solidFill>
              <a:srgbClr val="2C5F2D"/>
            </a:solidFill>
            <a:prstDash val="solid"/>
          </a:ln>
          <a:effectLst>
            <a:outerShdw sx="100000" sy="100000" kx="0" ky="0" algn="bl" rotWithShape="0" blurRad="127000" dist="25400" dir="5400000">
              <a:srgbClr val="9BAA9D">
                <a:alpha val="28000"/>
              </a:srgbClr>
            </a:outerShdw>
          </a:effectLst>
        </p:spPr>
      </p:sp>
      <p:sp>
        <p:nvSpPr>
          <p:cNvPr id="18" name="Text 16"/>
          <p:cNvSpPr txBox="1"/>
          <p:nvPr/>
        </p:nvSpPr>
        <p:spPr>
          <a:xfrm>
            <a:off x="9189720" y="2788920"/>
            <a:ext cx="2148840" cy="658368"/>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72</a:t>
            </a:r>
            <a:endParaRPr lang="en-US" sz="4400" dirty="0"/>
          </a:p>
        </p:txBody>
      </p:sp>
      <p:sp>
        <p:nvSpPr>
          <p:cNvPr id="19" name="Text 17"/>
          <p:cNvSpPr txBox="1"/>
          <p:nvPr/>
        </p:nvSpPr>
        <p:spPr>
          <a:xfrm>
            <a:off x="9144000" y="3493008"/>
            <a:ext cx="224028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requirements</a:t>
            </a:r>
            <a:endParaRPr lang="en-US" sz="1300" dirty="0"/>
          </a:p>
        </p:txBody>
      </p:sp>
      <p:sp>
        <p:nvSpPr>
          <p:cNvPr id="20" name="Text 18"/>
          <p:cNvSpPr txBox="1"/>
          <p:nvPr/>
        </p:nvSpPr>
        <p:spPr>
          <a:xfrm>
            <a:off x="9144000" y="3767328"/>
            <a:ext cx="2240280" cy="274320"/>
          </a:xfrm>
          <a:prstGeom prst="rect">
            <a:avLst/>
          </a:prstGeom>
          <a:noFill/>
          <a:ln/>
        </p:spPr>
        <p:txBody>
          <a:bodyPr wrap="square" lIns="0" tIns="0" rIns="0" bIns="0" rtlCol="0" anchor="ctr"/>
          <a:lstStyle/>
          <a:p>
            <a:pPr algn="ctr" indent="0" marL="0">
              <a:buNone/>
            </a:pPr>
            <a:r>
              <a:rPr lang="en-US" sz="1100" dirty="0">
                <a:solidFill>
                  <a:srgbClr val="97BC62"/>
                </a:solidFill>
                <a:latin typeface="Calibri" pitchFamily="34" charset="0"/>
                <a:ea typeface="Calibri" pitchFamily="34" charset="-122"/>
                <a:cs typeface="Calibri" pitchFamily="34" charset="-120"/>
              </a:rPr>
              <a:t>specified before code</a:t>
            </a:r>
            <a:endParaRPr lang="en-US" sz="1100" dirty="0"/>
          </a:p>
        </p:txBody>
      </p:sp>
      <p:sp>
        <p:nvSpPr>
          <p:cNvPr id="21" name="Shape 19"/>
          <p:cNvSpPr/>
          <p:nvPr/>
        </p:nvSpPr>
        <p:spPr>
          <a:xfrm>
            <a:off x="640080" y="4617720"/>
            <a:ext cx="10881360" cy="1325880"/>
          </a:xfrm>
          <a:prstGeom prst="roundRect">
            <a:avLst>
              <a:gd name="adj" fmla="val 6207"/>
            </a:avLst>
          </a:prstGeom>
          <a:solidFill>
            <a:srgbClr val="EFF4ED"/>
          </a:solidFill>
          <a:ln w="12700">
            <a:solidFill>
              <a:srgbClr val="EFF4ED"/>
            </a:solidFill>
            <a:prstDash val="solid"/>
          </a:ln>
        </p:spPr>
      </p:sp>
      <p:sp>
        <p:nvSpPr>
          <p:cNvPr id="22" name="Text 20"/>
          <p:cNvSpPr txBox="1"/>
          <p:nvPr/>
        </p:nvSpPr>
        <p:spPr>
          <a:xfrm>
            <a:off x="960120" y="4800600"/>
            <a:ext cx="3657600" cy="274320"/>
          </a:xfrm>
          <a:prstGeom prst="rect">
            <a:avLst/>
          </a:prstGeom>
          <a:noFill/>
          <a:ln/>
        </p:spPr>
        <p:txBody>
          <a:bodyPr wrap="square" lIns="0" tIns="0" rIns="0" bIns="0" rtlCol="0" anchor="ctr"/>
          <a:lstStyle/>
          <a:p>
            <a:pPr indent="0" marL="0">
              <a:buNone/>
            </a:pPr>
            <a:r>
              <a:rPr lang="en-US" sz="1200" b="1" spc="100" kern="0" dirty="0">
                <a:solidFill>
                  <a:srgbClr val="2C5F2D"/>
                </a:solidFill>
                <a:latin typeface="Calibri" pitchFamily="34" charset="0"/>
                <a:ea typeface="Calibri" pitchFamily="34" charset="-122"/>
                <a:cs typeface="Calibri" pitchFamily="34" charset="-120"/>
              </a:rPr>
              <a:t>What it measures</a:t>
            </a:r>
            <a:endParaRPr lang="en-US" sz="1200" dirty="0"/>
          </a:p>
        </p:txBody>
      </p:sp>
      <p:sp>
        <p:nvSpPr>
          <p:cNvPr id="23" name="Text 21"/>
          <p:cNvSpPr txBox="1"/>
          <p:nvPr/>
        </p:nvSpPr>
        <p:spPr>
          <a:xfrm>
            <a:off x="960120" y="5120640"/>
            <a:ext cx="3108960" cy="256032"/>
          </a:xfrm>
          <a:prstGeom prst="rect">
            <a:avLst/>
          </a:prstGeom>
          <a:noFill/>
          <a:ln/>
        </p:spPr>
        <p:txBody>
          <a:bodyPr wrap="square" lIns="0" tIns="0" rIns="0" bIns="0" rtlCol="0" anchor="t"/>
          <a:lstStyle/>
          <a:p>
            <a:pPr indent="0" marL="0">
              <a:buNone/>
            </a:pPr>
            <a:r>
              <a:rPr lang="en-US" sz="1250" b="1" dirty="0">
                <a:solidFill>
                  <a:srgbClr val="1F2A20"/>
                </a:solidFill>
                <a:latin typeface="Calibri" pitchFamily="34" charset="0"/>
                <a:ea typeface="Calibri" pitchFamily="34" charset="-122"/>
                <a:cs typeface="Calibri" pitchFamily="34" charset="-120"/>
              </a:rPr>
              <a:t>BME680</a:t>
            </a:r>
            <a:endParaRPr lang="en-US" sz="1250" dirty="0"/>
          </a:p>
        </p:txBody>
      </p:sp>
      <p:sp>
        <p:nvSpPr>
          <p:cNvPr id="24" name="Text 22"/>
          <p:cNvSpPr txBox="1"/>
          <p:nvPr/>
        </p:nvSpPr>
        <p:spPr>
          <a:xfrm>
            <a:off x="960120" y="5394960"/>
            <a:ext cx="3108960" cy="502920"/>
          </a:xfrm>
          <a:prstGeom prst="rect">
            <a:avLst/>
          </a:prstGeom>
          <a:noFill/>
          <a:ln/>
        </p:spPr>
        <p:txBody>
          <a:bodyPr wrap="square" lIns="0" tIns="0" rIns="0" bIns="0" rtlCol="0" anchor="t"/>
          <a:lstStyle/>
          <a:p>
            <a:pPr indent="0" marL="0">
              <a:lnSpc>
                <a:spcPts val="1600"/>
              </a:lnSpc>
              <a:buNone/>
            </a:pPr>
            <a:r>
              <a:rPr lang="en-US" sz="1200" dirty="0">
                <a:solidFill>
                  <a:srgbClr val="56635A"/>
                </a:solidFill>
                <a:latin typeface="Calibri" pitchFamily="34" charset="0"/>
                <a:ea typeface="Calibri" pitchFamily="34" charset="-122"/>
                <a:cs typeface="Calibri" pitchFamily="34" charset="-120"/>
              </a:rPr>
              <a:t>Air temperature · humidity</a:t>
            </a:r>
            <a:endParaRPr lang="en-US" sz="1200" dirty="0"/>
          </a:p>
          <a:p>
            <a:pPr indent="0" marL="0">
              <a:lnSpc>
                <a:spcPts val="1600"/>
              </a:lnSpc>
              <a:buNone/>
            </a:pPr>
            <a:r>
              <a:rPr lang="en-US" sz="1200" dirty="0">
                <a:solidFill>
                  <a:srgbClr val="56635A"/>
                </a:solidFill>
                <a:latin typeface="Calibri" pitchFamily="34" charset="0"/>
                <a:ea typeface="Calibri" pitchFamily="34" charset="-122"/>
                <a:cs typeface="Calibri" pitchFamily="34" charset="-120"/>
              </a:rPr>
              <a:t>pressure · gas resistance</a:t>
            </a:r>
            <a:endParaRPr lang="en-US" sz="1200" dirty="0"/>
          </a:p>
        </p:txBody>
      </p:sp>
      <p:sp>
        <p:nvSpPr>
          <p:cNvPr id="25" name="Text 23"/>
          <p:cNvSpPr txBox="1"/>
          <p:nvPr/>
        </p:nvSpPr>
        <p:spPr>
          <a:xfrm>
            <a:off x="4389120" y="5120640"/>
            <a:ext cx="3108960" cy="256032"/>
          </a:xfrm>
          <a:prstGeom prst="rect">
            <a:avLst/>
          </a:prstGeom>
          <a:noFill/>
          <a:ln/>
        </p:spPr>
        <p:txBody>
          <a:bodyPr wrap="square" lIns="0" tIns="0" rIns="0" bIns="0" rtlCol="0" anchor="t"/>
          <a:lstStyle/>
          <a:p>
            <a:pPr indent="0" marL="0">
              <a:buNone/>
            </a:pPr>
            <a:r>
              <a:rPr lang="en-US" sz="1250" b="1" dirty="0">
                <a:solidFill>
                  <a:srgbClr val="1F2A20"/>
                </a:solidFill>
                <a:latin typeface="Calibri" pitchFamily="34" charset="0"/>
                <a:ea typeface="Calibri" pitchFamily="34" charset="-122"/>
                <a:cs typeface="Calibri" pitchFamily="34" charset="-120"/>
              </a:rPr>
              <a:t>VEML7700</a:t>
            </a:r>
            <a:endParaRPr lang="en-US" sz="1250" dirty="0"/>
          </a:p>
        </p:txBody>
      </p:sp>
      <p:sp>
        <p:nvSpPr>
          <p:cNvPr id="26" name="Text 24"/>
          <p:cNvSpPr txBox="1"/>
          <p:nvPr/>
        </p:nvSpPr>
        <p:spPr>
          <a:xfrm>
            <a:off x="4389120" y="5394960"/>
            <a:ext cx="3108960" cy="502920"/>
          </a:xfrm>
          <a:prstGeom prst="rect">
            <a:avLst/>
          </a:prstGeom>
          <a:noFill/>
          <a:ln/>
        </p:spPr>
        <p:txBody>
          <a:bodyPr wrap="square" lIns="0" tIns="0" rIns="0" bIns="0" rtlCol="0" anchor="t"/>
          <a:lstStyle/>
          <a:p>
            <a:pPr indent="0" marL="0">
              <a:lnSpc>
                <a:spcPts val="1600"/>
              </a:lnSpc>
              <a:buNone/>
            </a:pPr>
            <a:r>
              <a:rPr lang="en-US" sz="1200" dirty="0">
                <a:solidFill>
                  <a:srgbClr val="56635A"/>
                </a:solidFill>
                <a:latin typeface="Calibri" pitchFamily="34" charset="0"/>
                <a:ea typeface="Calibri" pitchFamily="34" charset="-122"/>
                <a:cs typeface="Calibri" pitchFamily="34" charset="-120"/>
              </a:rPr>
              <a:t>Ambient light in lux, with gain</a:t>
            </a:r>
            <a:endParaRPr lang="en-US" sz="1200" dirty="0"/>
          </a:p>
          <a:p>
            <a:pPr indent="0" marL="0">
              <a:lnSpc>
                <a:spcPts val="1600"/>
              </a:lnSpc>
              <a:buNone/>
            </a:pPr>
            <a:r>
              <a:rPr lang="en-US" sz="1200" dirty="0">
                <a:solidFill>
                  <a:srgbClr val="56635A"/>
                </a:solidFill>
                <a:latin typeface="Calibri" pitchFamily="34" charset="0"/>
                <a:ea typeface="Calibri" pitchFamily="34" charset="-122"/>
                <a:cs typeface="Calibri" pitchFamily="34" charset="-120"/>
              </a:rPr>
              <a:t>and integration time recorded</a:t>
            </a:r>
            <a:endParaRPr lang="en-US" sz="1200" dirty="0"/>
          </a:p>
        </p:txBody>
      </p:sp>
      <p:sp>
        <p:nvSpPr>
          <p:cNvPr id="27" name="Text 25"/>
          <p:cNvSpPr txBox="1"/>
          <p:nvPr/>
        </p:nvSpPr>
        <p:spPr>
          <a:xfrm>
            <a:off x="7818120" y="5120640"/>
            <a:ext cx="3108960" cy="256032"/>
          </a:xfrm>
          <a:prstGeom prst="rect">
            <a:avLst/>
          </a:prstGeom>
          <a:noFill/>
          <a:ln/>
        </p:spPr>
        <p:txBody>
          <a:bodyPr wrap="square" lIns="0" tIns="0" rIns="0" bIns="0" rtlCol="0" anchor="t"/>
          <a:lstStyle/>
          <a:p>
            <a:pPr indent="0" marL="0">
              <a:buNone/>
            </a:pPr>
            <a:r>
              <a:rPr lang="en-US" sz="1250" b="1" dirty="0">
                <a:solidFill>
                  <a:srgbClr val="1F2A20"/>
                </a:solidFill>
                <a:latin typeface="Calibri" pitchFamily="34" charset="0"/>
                <a:ea typeface="Calibri" pitchFamily="34" charset="-122"/>
                <a:cs typeface="Calibri" pitchFamily="34" charset="-120"/>
              </a:rPr>
              <a:t>Adafruit Seesaw</a:t>
            </a:r>
            <a:endParaRPr lang="en-US" sz="1250" dirty="0"/>
          </a:p>
        </p:txBody>
      </p:sp>
      <p:sp>
        <p:nvSpPr>
          <p:cNvPr id="28" name="Text 26"/>
          <p:cNvSpPr txBox="1"/>
          <p:nvPr/>
        </p:nvSpPr>
        <p:spPr>
          <a:xfrm>
            <a:off x="7818120" y="5394960"/>
            <a:ext cx="3108960" cy="502920"/>
          </a:xfrm>
          <a:prstGeom prst="rect">
            <a:avLst/>
          </a:prstGeom>
          <a:noFill/>
          <a:ln/>
        </p:spPr>
        <p:txBody>
          <a:bodyPr wrap="square" lIns="0" tIns="0" rIns="0" bIns="0" rtlCol="0" anchor="t"/>
          <a:lstStyle/>
          <a:p>
            <a:pPr indent="0" marL="0">
              <a:lnSpc>
                <a:spcPts val="1600"/>
              </a:lnSpc>
              <a:buNone/>
            </a:pPr>
            <a:r>
              <a:rPr lang="en-US" sz="1200" dirty="0">
                <a:solidFill>
                  <a:srgbClr val="56635A"/>
                </a:solidFill>
                <a:latin typeface="Calibri" pitchFamily="34" charset="0"/>
                <a:ea typeface="Calibri" pitchFamily="34" charset="-122"/>
                <a:cs typeface="Calibri" pitchFamily="34" charset="-120"/>
              </a:rPr>
              <a:t>Soil capacitance</a:t>
            </a:r>
            <a:endParaRPr lang="en-US" sz="1200" dirty="0"/>
          </a:p>
          <a:p>
            <a:pPr indent="0" marL="0">
              <a:lnSpc>
                <a:spcPts val="1600"/>
              </a:lnSpc>
              <a:buNone/>
            </a:pPr>
            <a:r>
              <a:rPr lang="en-US" sz="1200" dirty="0">
                <a:solidFill>
                  <a:srgbClr val="56635A"/>
                </a:solidFill>
                <a:latin typeface="Calibri" pitchFamily="34" charset="0"/>
                <a:ea typeface="Calibri" pitchFamily="34" charset="-122"/>
                <a:cs typeface="Calibri" pitchFamily="34" charset="-120"/>
              </a:rPr>
              <a:t>and soil temperature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HOW IT WORKS</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t"/>
          <a:lstStyle/>
          <a:p>
            <a:pPr indent="0" marL="0">
              <a:buNone/>
            </a:pPr>
            <a:r>
              <a:rPr lang="en-US" sz="3400" b="1" dirty="0">
                <a:solidFill>
                  <a:srgbClr val="1F2A20"/>
                </a:solidFill>
                <a:latin typeface="Cambria" pitchFamily="34" charset="0"/>
                <a:ea typeface="Cambria" pitchFamily="34" charset="-122"/>
                <a:cs typeface="Cambria" pitchFamily="34" charset="-120"/>
              </a:rPr>
              <a:t>Sense, store, decide, act — and write down why</a:t>
            </a:r>
            <a:endParaRPr lang="en-US" sz="3400" dirty="0"/>
          </a:p>
        </p:txBody>
      </p:sp>
      <p:sp>
        <p:nvSpPr>
          <p:cNvPr id="4" name="Shape 2"/>
          <p:cNvSpPr/>
          <p:nvPr/>
        </p:nvSpPr>
        <p:spPr>
          <a:xfrm>
            <a:off x="640080" y="1783080"/>
            <a:ext cx="2542032" cy="2606040"/>
          </a:xfrm>
          <a:prstGeom prst="roundRect">
            <a:avLst>
              <a:gd name="adj" fmla="val 3237"/>
            </a:avLst>
          </a:prstGeom>
          <a:solidFill>
            <a:srgbClr val="FFFFFF"/>
          </a:solidFill>
          <a:ln w="12700">
            <a:solidFill>
              <a:srgbClr val="D5DFD3"/>
            </a:solidFill>
            <a:prstDash val="solid"/>
          </a:ln>
          <a:effectLst>
            <a:outerShdw sx="100000" sy="100000" kx="0" ky="0" algn="bl" rotWithShape="0" blurRad="127000" dist="25400" dir="5400000">
              <a:srgbClr val="9BAA9D">
                <a:alpha val="28000"/>
              </a:srgbClr>
            </a:outerShdw>
          </a:effectLst>
        </p:spPr>
      </p:sp>
      <p:sp>
        <p:nvSpPr>
          <p:cNvPr id="5" name="Shape 3"/>
          <p:cNvSpPr/>
          <p:nvPr/>
        </p:nvSpPr>
        <p:spPr>
          <a:xfrm>
            <a:off x="640080" y="1783080"/>
            <a:ext cx="2542032" cy="566928"/>
          </a:xfrm>
          <a:prstGeom prst="roundRect">
            <a:avLst>
              <a:gd name="adj" fmla="val 14516"/>
            </a:avLst>
          </a:prstGeom>
          <a:solidFill>
            <a:srgbClr val="2C5F2D"/>
          </a:solidFill>
          <a:ln w="12700">
            <a:solidFill>
              <a:srgbClr val="2C5F2D"/>
            </a:solidFill>
            <a:prstDash val="solid"/>
          </a:ln>
        </p:spPr>
      </p:sp>
      <p:sp>
        <p:nvSpPr>
          <p:cNvPr id="6" name="Text 4"/>
          <p:cNvSpPr txBox="1"/>
          <p:nvPr/>
        </p:nvSpPr>
        <p:spPr>
          <a:xfrm>
            <a:off x="777240" y="1783080"/>
            <a:ext cx="2267712" cy="566928"/>
          </a:xfrm>
          <a:prstGeom prst="rect">
            <a:avLst/>
          </a:prstGeom>
          <a:noFill/>
          <a:ln/>
        </p:spPr>
        <p:txBody>
          <a:bodyPr wrap="square" lIns="0" tIns="0" rIns="0" bIns="0" rtlCol="0" anchor="ctr"/>
          <a:lstStyle/>
          <a:p>
            <a:pPr algn="ctr" indent="0" marL="0">
              <a:buNone/>
            </a:pPr>
            <a:r>
              <a:rPr lang="en-US" sz="1500" b="1" spc="200" kern="0" dirty="0">
                <a:solidFill>
                  <a:srgbClr val="FFFFFF"/>
                </a:solidFill>
                <a:latin typeface="Calibri" pitchFamily="34" charset="0"/>
                <a:ea typeface="Calibri" pitchFamily="34" charset="-122"/>
                <a:cs typeface="Calibri" pitchFamily="34" charset="-120"/>
              </a:rPr>
              <a:t>SENSE</a:t>
            </a:r>
            <a:endParaRPr lang="en-US" sz="1500" dirty="0"/>
          </a:p>
        </p:txBody>
      </p:sp>
      <p:sp>
        <p:nvSpPr>
          <p:cNvPr id="7" name="Text 5"/>
          <p:cNvSpPr txBox="1"/>
          <p:nvPr/>
        </p:nvSpPr>
        <p:spPr>
          <a:xfrm>
            <a:off x="868680" y="2542032"/>
            <a:ext cx="2084832" cy="1691640"/>
          </a:xfrm>
          <a:prstGeom prst="rect">
            <a:avLst/>
          </a:prstGeom>
          <a:noFill/>
          <a:ln/>
        </p:spPr>
        <p:txBody>
          <a:bodyPr wrap="square" lIns="0" tIns="0" rIns="0" bIns="0" rtlCol="0" anchor="t"/>
          <a:lstStyle/>
          <a:p>
            <a:pPr indent="0" marL="0">
              <a:lnSpc>
                <a:spcPts val="1800"/>
              </a:lnSpc>
              <a:buNone/>
            </a:pPr>
            <a:r>
              <a:rPr lang="en-US" sz="1250" dirty="0">
                <a:solidFill>
                  <a:srgbClr val="56635A"/>
                </a:solidFill>
                <a:latin typeface="Calibri" pitchFamily="34" charset="0"/>
                <a:ea typeface="Calibri" pitchFamily="34" charset="-122"/>
                <a:cs typeface="Calibri" pitchFamily="34" charset="-120"/>
              </a:rPr>
              <a:t>Drivers poll the I2C bus on their own schedules. A failed read is retried and recorded, never silently dropped.</a:t>
            </a:r>
            <a:endParaRPr lang="en-US" sz="1250" dirty="0"/>
          </a:p>
        </p:txBody>
      </p:sp>
      <p:sp>
        <p:nvSpPr>
          <p:cNvPr id="8" name="Text 6"/>
          <p:cNvSpPr txBox="1"/>
          <p:nvPr/>
        </p:nvSpPr>
        <p:spPr>
          <a:xfrm>
            <a:off x="3163824" y="2788920"/>
            <a:ext cx="274320" cy="365760"/>
          </a:xfrm>
          <a:prstGeom prst="rect">
            <a:avLst/>
          </a:prstGeom>
          <a:noFill/>
          <a:ln/>
        </p:spPr>
        <p:txBody>
          <a:bodyPr wrap="square" lIns="0" tIns="0" rIns="0" bIns="0" rtlCol="0" anchor="ctr"/>
          <a:lstStyle/>
          <a:p>
            <a:pPr algn="ctr" indent="0" marL="0">
              <a:buNone/>
            </a:pPr>
            <a:r>
              <a:rPr lang="en-US" sz="2200" b="1" dirty="0">
                <a:solidFill>
                  <a:srgbClr val="97BC62"/>
                </a:solidFill>
                <a:latin typeface="Calibri" pitchFamily="34" charset="0"/>
                <a:ea typeface="Calibri" pitchFamily="34" charset="-122"/>
                <a:cs typeface="Calibri" pitchFamily="34" charset="-120"/>
              </a:rPr>
              <a:t>›</a:t>
            </a:r>
            <a:endParaRPr lang="en-US" sz="2200" dirty="0"/>
          </a:p>
        </p:txBody>
      </p:sp>
      <p:sp>
        <p:nvSpPr>
          <p:cNvPr id="9" name="Shape 7"/>
          <p:cNvSpPr/>
          <p:nvPr/>
        </p:nvSpPr>
        <p:spPr>
          <a:xfrm>
            <a:off x="3419856" y="1783080"/>
            <a:ext cx="2542032" cy="2606040"/>
          </a:xfrm>
          <a:prstGeom prst="roundRect">
            <a:avLst>
              <a:gd name="adj" fmla="val 3237"/>
            </a:avLst>
          </a:prstGeom>
          <a:solidFill>
            <a:srgbClr val="FFFFFF"/>
          </a:solidFill>
          <a:ln w="12700">
            <a:solidFill>
              <a:srgbClr val="D5DFD3"/>
            </a:solidFill>
            <a:prstDash val="solid"/>
          </a:ln>
          <a:effectLst>
            <a:outerShdw sx="100000" sy="100000" kx="0" ky="0" algn="bl" rotWithShape="0" blurRad="127000" dist="25400" dir="5400000">
              <a:srgbClr val="9BAA9D">
                <a:alpha val="28000"/>
              </a:srgbClr>
            </a:outerShdw>
          </a:effectLst>
        </p:spPr>
      </p:sp>
      <p:sp>
        <p:nvSpPr>
          <p:cNvPr id="10" name="Shape 8"/>
          <p:cNvSpPr/>
          <p:nvPr/>
        </p:nvSpPr>
        <p:spPr>
          <a:xfrm>
            <a:off x="3419856" y="1783080"/>
            <a:ext cx="2542032" cy="566928"/>
          </a:xfrm>
          <a:prstGeom prst="roundRect">
            <a:avLst>
              <a:gd name="adj" fmla="val 14516"/>
            </a:avLst>
          </a:prstGeom>
          <a:solidFill>
            <a:srgbClr val="2C5F2D"/>
          </a:solidFill>
          <a:ln w="12700">
            <a:solidFill>
              <a:srgbClr val="2C5F2D"/>
            </a:solidFill>
            <a:prstDash val="solid"/>
          </a:ln>
        </p:spPr>
      </p:sp>
      <p:sp>
        <p:nvSpPr>
          <p:cNvPr id="11" name="Text 9"/>
          <p:cNvSpPr txBox="1"/>
          <p:nvPr/>
        </p:nvSpPr>
        <p:spPr>
          <a:xfrm>
            <a:off x="3557016" y="1783080"/>
            <a:ext cx="2267712" cy="566928"/>
          </a:xfrm>
          <a:prstGeom prst="rect">
            <a:avLst/>
          </a:prstGeom>
          <a:noFill/>
          <a:ln/>
        </p:spPr>
        <p:txBody>
          <a:bodyPr wrap="square" lIns="0" tIns="0" rIns="0" bIns="0" rtlCol="0" anchor="ctr"/>
          <a:lstStyle/>
          <a:p>
            <a:pPr algn="ctr" indent="0" marL="0">
              <a:buNone/>
            </a:pPr>
            <a:r>
              <a:rPr lang="en-US" sz="1500" b="1" spc="200" kern="0" dirty="0">
                <a:solidFill>
                  <a:srgbClr val="FFFFFF"/>
                </a:solidFill>
                <a:latin typeface="Calibri" pitchFamily="34" charset="0"/>
                <a:ea typeface="Calibri" pitchFamily="34" charset="-122"/>
                <a:cs typeface="Calibri" pitchFamily="34" charset="-120"/>
              </a:rPr>
              <a:t>STORE</a:t>
            </a:r>
            <a:endParaRPr lang="en-US" sz="1500" dirty="0"/>
          </a:p>
        </p:txBody>
      </p:sp>
      <p:sp>
        <p:nvSpPr>
          <p:cNvPr id="12" name="Text 10"/>
          <p:cNvSpPr txBox="1"/>
          <p:nvPr/>
        </p:nvSpPr>
        <p:spPr>
          <a:xfrm>
            <a:off x="3648456" y="2542032"/>
            <a:ext cx="2084832" cy="1691640"/>
          </a:xfrm>
          <a:prstGeom prst="rect">
            <a:avLst/>
          </a:prstGeom>
          <a:noFill/>
          <a:ln/>
        </p:spPr>
        <p:txBody>
          <a:bodyPr wrap="square" lIns="0" tIns="0" rIns="0" bIns="0" rtlCol="0" anchor="t"/>
          <a:lstStyle/>
          <a:p>
            <a:pPr indent="0" marL="0">
              <a:lnSpc>
                <a:spcPts val="1800"/>
              </a:lnSpc>
              <a:buNone/>
            </a:pPr>
            <a:r>
              <a:rPr lang="en-US" sz="1250" dirty="0">
                <a:solidFill>
                  <a:srgbClr val="56635A"/>
                </a:solidFill>
                <a:latin typeface="Calibri" pitchFamily="34" charset="0"/>
                <a:ea typeface="Calibri" pitchFamily="34" charset="-122"/>
                <a:cs typeface="Calibri" pitchFamily="34" charset="-120"/>
              </a:rPr>
              <a:t>Every reading lands in a local SQLite database as one narrow row. Raw for a week, minute data for 90 days, quarter-hour forever.</a:t>
            </a:r>
            <a:endParaRPr lang="en-US" sz="1250" dirty="0"/>
          </a:p>
        </p:txBody>
      </p:sp>
      <p:sp>
        <p:nvSpPr>
          <p:cNvPr id="13" name="Text 11"/>
          <p:cNvSpPr txBox="1"/>
          <p:nvPr/>
        </p:nvSpPr>
        <p:spPr>
          <a:xfrm>
            <a:off x="5943600" y="2788920"/>
            <a:ext cx="274320" cy="365760"/>
          </a:xfrm>
          <a:prstGeom prst="rect">
            <a:avLst/>
          </a:prstGeom>
          <a:noFill/>
          <a:ln/>
        </p:spPr>
        <p:txBody>
          <a:bodyPr wrap="square" lIns="0" tIns="0" rIns="0" bIns="0" rtlCol="0" anchor="ctr"/>
          <a:lstStyle/>
          <a:p>
            <a:pPr algn="ctr" indent="0" marL="0">
              <a:buNone/>
            </a:pPr>
            <a:r>
              <a:rPr lang="en-US" sz="2200" b="1" dirty="0">
                <a:solidFill>
                  <a:srgbClr val="97BC62"/>
                </a:solidFill>
                <a:latin typeface="Calibri" pitchFamily="34" charset="0"/>
                <a:ea typeface="Calibri" pitchFamily="34" charset="-122"/>
                <a:cs typeface="Calibri" pitchFamily="34" charset="-120"/>
              </a:rPr>
              <a:t>›</a:t>
            </a:r>
            <a:endParaRPr lang="en-US" sz="2200" dirty="0"/>
          </a:p>
        </p:txBody>
      </p:sp>
      <p:sp>
        <p:nvSpPr>
          <p:cNvPr id="14" name="Shape 12"/>
          <p:cNvSpPr/>
          <p:nvPr/>
        </p:nvSpPr>
        <p:spPr>
          <a:xfrm>
            <a:off x="6199632" y="1783080"/>
            <a:ext cx="2542032" cy="2606040"/>
          </a:xfrm>
          <a:prstGeom prst="roundRect">
            <a:avLst>
              <a:gd name="adj" fmla="val 3237"/>
            </a:avLst>
          </a:prstGeom>
          <a:solidFill>
            <a:srgbClr val="FFFFFF"/>
          </a:solidFill>
          <a:ln w="12700">
            <a:solidFill>
              <a:srgbClr val="D5DFD3"/>
            </a:solidFill>
            <a:prstDash val="solid"/>
          </a:ln>
          <a:effectLst>
            <a:outerShdw sx="100000" sy="100000" kx="0" ky="0" algn="bl" rotWithShape="0" blurRad="127000" dist="25400" dir="5400000">
              <a:srgbClr val="9BAA9D">
                <a:alpha val="28000"/>
              </a:srgbClr>
            </a:outerShdw>
          </a:effectLst>
        </p:spPr>
      </p:sp>
      <p:sp>
        <p:nvSpPr>
          <p:cNvPr id="15" name="Shape 13"/>
          <p:cNvSpPr/>
          <p:nvPr/>
        </p:nvSpPr>
        <p:spPr>
          <a:xfrm>
            <a:off x="6199632" y="1783080"/>
            <a:ext cx="2542032" cy="566928"/>
          </a:xfrm>
          <a:prstGeom prst="roundRect">
            <a:avLst>
              <a:gd name="adj" fmla="val 14516"/>
            </a:avLst>
          </a:prstGeom>
          <a:solidFill>
            <a:srgbClr val="2C5F2D"/>
          </a:solidFill>
          <a:ln w="12700">
            <a:solidFill>
              <a:srgbClr val="2C5F2D"/>
            </a:solidFill>
            <a:prstDash val="solid"/>
          </a:ln>
        </p:spPr>
      </p:sp>
      <p:sp>
        <p:nvSpPr>
          <p:cNvPr id="16" name="Text 14"/>
          <p:cNvSpPr txBox="1"/>
          <p:nvPr/>
        </p:nvSpPr>
        <p:spPr>
          <a:xfrm>
            <a:off x="6336792" y="1783080"/>
            <a:ext cx="2267712" cy="566928"/>
          </a:xfrm>
          <a:prstGeom prst="rect">
            <a:avLst/>
          </a:prstGeom>
          <a:noFill/>
          <a:ln/>
        </p:spPr>
        <p:txBody>
          <a:bodyPr wrap="square" lIns="0" tIns="0" rIns="0" bIns="0" rtlCol="0" anchor="ctr"/>
          <a:lstStyle/>
          <a:p>
            <a:pPr algn="ctr" indent="0" marL="0">
              <a:buNone/>
            </a:pPr>
            <a:r>
              <a:rPr lang="en-US" sz="1500" b="1" spc="200" kern="0" dirty="0">
                <a:solidFill>
                  <a:srgbClr val="FFFFFF"/>
                </a:solidFill>
                <a:latin typeface="Calibri" pitchFamily="34" charset="0"/>
                <a:ea typeface="Calibri" pitchFamily="34" charset="-122"/>
                <a:cs typeface="Calibri" pitchFamily="34" charset="-120"/>
              </a:rPr>
              <a:t>DECIDE</a:t>
            </a:r>
            <a:endParaRPr lang="en-US" sz="1500" dirty="0"/>
          </a:p>
        </p:txBody>
      </p:sp>
      <p:sp>
        <p:nvSpPr>
          <p:cNvPr id="17" name="Text 15"/>
          <p:cNvSpPr txBox="1"/>
          <p:nvPr/>
        </p:nvSpPr>
        <p:spPr>
          <a:xfrm>
            <a:off x="6428232" y="2542032"/>
            <a:ext cx="2084832" cy="1691640"/>
          </a:xfrm>
          <a:prstGeom prst="rect">
            <a:avLst/>
          </a:prstGeom>
          <a:noFill/>
          <a:ln/>
        </p:spPr>
        <p:txBody>
          <a:bodyPr wrap="square" lIns="0" tIns="0" rIns="0" bIns="0" rtlCol="0" anchor="t"/>
          <a:lstStyle/>
          <a:p>
            <a:pPr indent="0" marL="0">
              <a:lnSpc>
                <a:spcPts val="1800"/>
              </a:lnSpc>
              <a:buNone/>
            </a:pPr>
            <a:r>
              <a:rPr lang="en-US" sz="1250" dirty="0">
                <a:solidFill>
                  <a:srgbClr val="56635A"/>
                </a:solidFill>
                <a:latin typeface="Calibri" pitchFamily="34" charset="0"/>
                <a:ea typeface="Calibri" pitchFamily="34" charset="-122"/>
                <a:cs typeface="Calibri" pitchFamily="34" charset="-120"/>
              </a:rPr>
              <a:t>Rules compare each plant against its own targets: a moisture band with hysteresis, and a daily light integral goal.</a:t>
            </a:r>
            <a:endParaRPr lang="en-US" sz="1250" dirty="0"/>
          </a:p>
        </p:txBody>
      </p:sp>
      <p:sp>
        <p:nvSpPr>
          <p:cNvPr id="18" name="Text 16"/>
          <p:cNvSpPr txBox="1"/>
          <p:nvPr/>
        </p:nvSpPr>
        <p:spPr>
          <a:xfrm>
            <a:off x="8723376" y="2788920"/>
            <a:ext cx="274320" cy="365760"/>
          </a:xfrm>
          <a:prstGeom prst="rect">
            <a:avLst/>
          </a:prstGeom>
          <a:noFill/>
          <a:ln/>
        </p:spPr>
        <p:txBody>
          <a:bodyPr wrap="square" lIns="0" tIns="0" rIns="0" bIns="0" rtlCol="0" anchor="ctr"/>
          <a:lstStyle/>
          <a:p>
            <a:pPr algn="ctr" indent="0" marL="0">
              <a:buNone/>
            </a:pPr>
            <a:r>
              <a:rPr lang="en-US" sz="2200" b="1" dirty="0">
                <a:solidFill>
                  <a:srgbClr val="97BC62"/>
                </a:solidFill>
                <a:latin typeface="Calibri" pitchFamily="34" charset="0"/>
                <a:ea typeface="Calibri" pitchFamily="34" charset="-122"/>
                <a:cs typeface="Calibri" pitchFamily="34" charset="-120"/>
              </a:rPr>
              <a:t>›</a:t>
            </a:r>
            <a:endParaRPr lang="en-US" sz="2200" dirty="0"/>
          </a:p>
        </p:txBody>
      </p:sp>
      <p:sp>
        <p:nvSpPr>
          <p:cNvPr id="19" name="Shape 17"/>
          <p:cNvSpPr/>
          <p:nvPr/>
        </p:nvSpPr>
        <p:spPr>
          <a:xfrm>
            <a:off x="8979408" y="1783080"/>
            <a:ext cx="2542032" cy="2606040"/>
          </a:xfrm>
          <a:prstGeom prst="roundRect">
            <a:avLst>
              <a:gd name="adj" fmla="val 3237"/>
            </a:avLst>
          </a:prstGeom>
          <a:solidFill>
            <a:srgbClr val="FFFFFF"/>
          </a:solidFill>
          <a:ln w="12700">
            <a:solidFill>
              <a:srgbClr val="D5DFD3"/>
            </a:solidFill>
            <a:prstDash val="solid"/>
          </a:ln>
          <a:effectLst>
            <a:outerShdw sx="100000" sy="100000" kx="0" ky="0" algn="bl" rotWithShape="0" blurRad="127000" dist="25400" dir="5400000">
              <a:srgbClr val="9BAA9D">
                <a:alpha val="28000"/>
              </a:srgbClr>
            </a:outerShdw>
          </a:effectLst>
        </p:spPr>
      </p:sp>
      <p:sp>
        <p:nvSpPr>
          <p:cNvPr id="20" name="Shape 18"/>
          <p:cNvSpPr/>
          <p:nvPr/>
        </p:nvSpPr>
        <p:spPr>
          <a:xfrm>
            <a:off x="8979408" y="1783080"/>
            <a:ext cx="2542032" cy="566928"/>
          </a:xfrm>
          <a:prstGeom prst="roundRect">
            <a:avLst>
              <a:gd name="adj" fmla="val 14516"/>
            </a:avLst>
          </a:prstGeom>
          <a:solidFill>
            <a:srgbClr val="C9752B"/>
          </a:solidFill>
          <a:ln w="12700">
            <a:solidFill>
              <a:srgbClr val="C9752B"/>
            </a:solidFill>
            <a:prstDash val="solid"/>
          </a:ln>
        </p:spPr>
      </p:sp>
      <p:sp>
        <p:nvSpPr>
          <p:cNvPr id="21" name="Text 19"/>
          <p:cNvSpPr txBox="1"/>
          <p:nvPr/>
        </p:nvSpPr>
        <p:spPr>
          <a:xfrm>
            <a:off x="9116568" y="1783080"/>
            <a:ext cx="2267712" cy="566928"/>
          </a:xfrm>
          <a:prstGeom prst="rect">
            <a:avLst/>
          </a:prstGeom>
          <a:noFill/>
          <a:ln/>
        </p:spPr>
        <p:txBody>
          <a:bodyPr wrap="square" lIns="0" tIns="0" rIns="0" bIns="0" rtlCol="0" anchor="ctr"/>
          <a:lstStyle/>
          <a:p>
            <a:pPr algn="ctr" indent="0" marL="0">
              <a:buNone/>
            </a:pPr>
            <a:r>
              <a:rPr lang="en-US" sz="1500" b="1" spc="200" kern="0" dirty="0">
                <a:solidFill>
                  <a:srgbClr val="FFFFFF"/>
                </a:solidFill>
                <a:latin typeface="Calibri" pitchFamily="34" charset="0"/>
                <a:ea typeface="Calibri" pitchFamily="34" charset="-122"/>
                <a:cs typeface="Calibri" pitchFamily="34" charset="-120"/>
              </a:rPr>
              <a:t>ACT</a:t>
            </a:r>
            <a:endParaRPr lang="en-US" sz="1500" dirty="0"/>
          </a:p>
        </p:txBody>
      </p:sp>
      <p:sp>
        <p:nvSpPr>
          <p:cNvPr id="22" name="Text 20"/>
          <p:cNvSpPr txBox="1"/>
          <p:nvPr/>
        </p:nvSpPr>
        <p:spPr>
          <a:xfrm>
            <a:off x="9208008" y="2542032"/>
            <a:ext cx="2084832" cy="1691640"/>
          </a:xfrm>
          <a:prstGeom prst="rect">
            <a:avLst/>
          </a:prstGeom>
          <a:noFill/>
          <a:ln/>
        </p:spPr>
        <p:txBody>
          <a:bodyPr wrap="square" lIns="0" tIns="0" rIns="0" bIns="0" rtlCol="0" anchor="t"/>
          <a:lstStyle/>
          <a:p>
            <a:pPr indent="0" marL="0">
              <a:lnSpc>
                <a:spcPts val="1800"/>
              </a:lnSpc>
              <a:buNone/>
            </a:pPr>
            <a:r>
              <a:rPr lang="en-US" sz="1250" dirty="0">
                <a:solidFill>
                  <a:srgbClr val="56635A"/>
                </a:solidFill>
                <a:latin typeface="Calibri" pitchFamily="34" charset="0"/>
                <a:ea typeface="Calibri" pitchFamily="34" charset="-122"/>
                <a:cs typeface="Calibri" pitchFamily="34" charset="-120"/>
              </a:rPr>
              <a:t>Valves and grow lights are switched — then the result is measured, so cause and effect are recorded as a pair.</a:t>
            </a:r>
            <a:endParaRPr lang="en-US" sz="1250" dirty="0"/>
          </a:p>
        </p:txBody>
      </p:sp>
      <p:sp>
        <p:nvSpPr>
          <p:cNvPr id="23" name="Shape 21"/>
          <p:cNvSpPr/>
          <p:nvPr/>
        </p:nvSpPr>
        <p:spPr>
          <a:xfrm>
            <a:off x="640080" y="4663440"/>
            <a:ext cx="10881360" cy="1280160"/>
          </a:xfrm>
          <a:prstGeom prst="roundRect">
            <a:avLst>
              <a:gd name="adj" fmla="val 6429"/>
            </a:avLst>
          </a:prstGeom>
          <a:solidFill>
            <a:srgbClr val="EFF4ED"/>
          </a:solidFill>
          <a:ln w="12700">
            <a:solidFill>
              <a:srgbClr val="EFF4ED"/>
            </a:solidFill>
            <a:prstDash val="solid"/>
          </a:ln>
        </p:spPr>
      </p:sp>
      <p:sp>
        <p:nvSpPr>
          <p:cNvPr id="24" name="Text 22"/>
          <p:cNvSpPr txBox="1"/>
          <p:nvPr/>
        </p:nvSpPr>
        <p:spPr>
          <a:xfrm>
            <a:off x="960120" y="4846320"/>
            <a:ext cx="4572000" cy="274320"/>
          </a:xfrm>
          <a:prstGeom prst="rect">
            <a:avLst/>
          </a:prstGeom>
          <a:noFill/>
          <a:ln/>
        </p:spPr>
        <p:txBody>
          <a:bodyPr wrap="square" lIns="0" tIns="0" rIns="0" bIns="0" rtlCol="0" anchor="ctr"/>
          <a:lstStyle/>
          <a:p>
            <a:pPr indent="0" marL="0">
              <a:buNone/>
            </a:pPr>
            <a:r>
              <a:rPr lang="en-US" sz="1200" b="1" spc="100" kern="0" dirty="0">
                <a:solidFill>
                  <a:srgbClr val="2C5F2D"/>
                </a:solidFill>
                <a:latin typeface="Calibri" pitchFamily="34" charset="0"/>
                <a:ea typeface="Calibri" pitchFamily="34" charset="-122"/>
                <a:cs typeface="Calibri" pitchFamily="34" charset="-120"/>
              </a:rPr>
              <a:t>Two processes, one database</a:t>
            </a:r>
            <a:endParaRPr lang="en-US" sz="1200" dirty="0"/>
          </a:p>
        </p:txBody>
      </p:sp>
      <p:sp>
        <p:nvSpPr>
          <p:cNvPr id="25" name="Text 23"/>
          <p:cNvSpPr txBox="1"/>
          <p:nvPr/>
        </p:nvSpPr>
        <p:spPr>
          <a:xfrm>
            <a:off x="960120" y="5148072"/>
            <a:ext cx="10241280" cy="685800"/>
          </a:xfrm>
          <a:prstGeom prst="rect">
            <a:avLst/>
          </a:prstGeom>
          <a:noFill/>
          <a:ln/>
        </p:spPr>
        <p:txBody>
          <a:bodyPr wrap="square" lIns="0" tIns="0" rIns="0" bIns="0" rtlCol="0" anchor="t"/>
          <a:lstStyle/>
          <a:p>
            <a:pPr indent="0" marL="0">
              <a:lnSpc>
                <a:spcPts val="1900"/>
              </a:lnSpc>
              <a:buNone/>
            </a:pPr>
            <a:r>
              <a:rPr lang="en-US" sz="1300" dirty="0">
                <a:solidFill>
                  <a:srgbClr val="56635A"/>
                </a:solidFill>
                <a:latin typeface="Calibri" pitchFamily="34" charset="0"/>
                <a:ea typeface="Calibri" pitchFamily="34" charset="-122"/>
                <a:cs typeface="Calibri" pitchFamily="34" charset="-120"/>
              </a:rPr>
              <a:t>The control loop and the web dashboard are independent services that share only the database. The dashboard can crash, be redeployed or be switched off entirely and the watering never stops. A "water now" tap from a phone becomes a queued command the loop picks up on its next tick.</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IN DAILY USE</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t"/>
          <a:lstStyle/>
          <a:p>
            <a:pPr indent="0" marL="0">
              <a:buNone/>
            </a:pPr>
            <a:r>
              <a:rPr lang="en-US" sz="3400" b="1" dirty="0">
                <a:solidFill>
                  <a:srgbClr val="1F2A20"/>
                </a:solidFill>
                <a:latin typeface="Cambria" pitchFamily="34" charset="0"/>
                <a:ea typeface="Cambria" pitchFamily="34" charset="-122"/>
                <a:cs typeface="Cambria" pitchFamily="34" charset="-120"/>
              </a:rPr>
              <a:t>Everything you need is on one phone screen</a:t>
            </a:r>
            <a:endParaRPr lang="en-US" sz="3400" dirty="0"/>
          </a:p>
        </p:txBody>
      </p:sp>
      <p:sp>
        <p:nvSpPr>
          <p:cNvPr id="4" name="Shape 2"/>
          <p:cNvSpPr/>
          <p:nvPr/>
        </p:nvSpPr>
        <p:spPr>
          <a:xfrm>
            <a:off x="777240" y="1737360"/>
            <a:ext cx="2834640" cy="4251960"/>
          </a:xfrm>
          <a:prstGeom prst="roundRect">
            <a:avLst>
              <a:gd name="adj" fmla="val 3871"/>
            </a:avLst>
          </a:prstGeom>
          <a:solidFill>
            <a:srgbClr val="16301A"/>
          </a:solidFill>
          <a:ln w="12700">
            <a:solidFill>
              <a:srgbClr val="16301A"/>
            </a:solidFill>
            <a:prstDash val="solid"/>
          </a:ln>
          <a:effectLst>
            <a:outerShdw sx="100000" sy="100000" kx="0" ky="0" algn="bl" rotWithShape="0" blurRad="127000" dist="25400" dir="5400000">
              <a:srgbClr val="9BAA9D">
                <a:alpha val="28000"/>
              </a:srgbClr>
            </a:outerShdw>
          </a:effectLst>
        </p:spPr>
      </p:sp>
      <p:sp>
        <p:nvSpPr>
          <p:cNvPr id="5" name="Text 3"/>
          <p:cNvSpPr txBox="1"/>
          <p:nvPr/>
        </p:nvSpPr>
        <p:spPr>
          <a:xfrm>
            <a:off x="1005840" y="1965960"/>
            <a:ext cx="237744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Today</a:t>
            </a:r>
            <a:endParaRPr lang="en-US" sz="1400" dirty="0"/>
          </a:p>
        </p:txBody>
      </p:sp>
      <p:sp>
        <p:nvSpPr>
          <p:cNvPr id="6" name="Shape 4"/>
          <p:cNvSpPr/>
          <p:nvPr/>
        </p:nvSpPr>
        <p:spPr>
          <a:xfrm>
            <a:off x="1005840" y="2395728"/>
            <a:ext cx="2377440" cy="841248"/>
          </a:xfrm>
          <a:prstGeom prst="roundRect">
            <a:avLst>
              <a:gd name="adj" fmla="val 7609"/>
            </a:avLst>
          </a:prstGeom>
          <a:solidFill>
            <a:srgbClr val="213F25"/>
          </a:solidFill>
          <a:ln w="12700">
            <a:solidFill>
              <a:srgbClr val="2C5233"/>
            </a:solidFill>
            <a:prstDash val="solid"/>
          </a:ln>
        </p:spPr>
      </p:sp>
      <p:sp>
        <p:nvSpPr>
          <p:cNvPr id="7" name="Shape 5"/>
          <p:cNvSpPr/>
          <p:nvPr/>
        </p:nvSpPr>
        <p:spPr>
          <a:xfrm>
            <a:off x="1170432" y="2724912"/>
            <a:ext cx="182880" cy="182880"/>
          </a:xfrm>
          <a:prstGeom prst="ellipse">
            <a:avLst/>
          </a:prstGeom>
          <a:solidFill>
            <a:srgbClr val="97BC62"/>
          </a:solidFill>
          <a:ln w="12700">
            <a:solidFill>
              <a:srgbClr val="97BC62"/>
            </a:solidFill>
            <a:prstDash val="solid"/>
          </a:ln>
        </p:spPr>
      </p:sp>
      <p:sp>
        <p:nvSpPr>
          <p:cNvPr id="8" name="Text 6"/>
          <p:cNvSpPr txBox="1"/>
          <p:nvPr/>
        </p:nvSpPr>
        <p:spPr>
          <a:xfrm>
            <a:off x="1463040" y="2532888"/>
            <a:ext cx="18288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Monstera</a:t>
            </a:r>
            <a:endParaRPr lang="en-US" sz="1300" dirty="0"/>
          </a:p>
        </p:txBody>
      </p:sp>
      <p:sp>
        <p:nvSpPr>
          <p:cNvPr id="9" name="Text 7"/>
          <p:cNvSpPr txBox="1"/>
          <p:nvPr/>
        </p:nvSpPr>
        <p:spPr>
          <a:xfrm>
            <a:off x="1463040" y="2816352"/>
            <a:ext cx="1828800" cy="274320"/>
          </a:xfrm>
          <a:prstGeom prst="rect">
            <a:avLst/>
          </a:prstGeom>
          <a:noFill/>
          <a:ln/>
        </p:spPr>
        <p:txBody>
          <a:bodyPr wrap="square" lIns="0" tIns="0" rIns="0" bIns="0" rtlCol="0" anchor="ctr"/>
          <a:lstStyle/>
          <a:p>
            <a:pPr indent="0" marL="0">
              <a:buNone/>
            </a:pPr>
            <a:r>
              <a:rPr lang="en-US" sz="1050" dirty="0">
                <a:solidFill>
                  <a:srgbClr val="AFC2B2"/>
                </a:solidFill>
                <a:latin typeface="Calibri" pitchFamily="34" charset="0"/>
                <a:ea typeface="Calibri" pitchFamily="34" charset="-122"/>
                <a:cs typeface="Calibri" pitchFamily="34" charset="-120"/>
              </a:rPr>
              <a:t>Moisture 62%   ·   OK</a:t>
            </a:r>
            <a:endParaRPr lang="en-US" sz="1050" dirty="0"/>
          </a:p>
        </p:txBody>
      </p:sp>
      <p:sp>
        <p:nvSpPr>
          <p:cNvPr id="10" name="Shape 8"/>
          <p:cNvSpPr/>
          <p:nvPr/>
        </p:nvSpPr>
        <p:spPr>
          <a:xfrm>
            <a:off x="1005840" y="3419856"/>
            <a:ext cx="2377440" cy="841248"/>
          </a:xfrm>
          <a:prstGeom prst="roundRect">
            <a:avLst>
              <a:gd name="adj" fmla="val 7609"/>
            </a:avLst>
          </a:prstGeom>
          <a:solidFill>
            <a:srgbClr val="213F25"/>
          </a:solidFill>
          <a:ln w="12700">
            <a:solidFill>
              <a:srgbClr val="2C5233"/>
            </a:solidFill>
            <a:prstDash val="solid"/>
          </a:ln>
        </p:spPr>
      </p:sp>
      <p:sp>
        <p:nvSpPr>
          <p:cNvPr id="11" name="Shape 9"/>
          <p:cNvSpPr/>
          <p:nvPr/>
        </p:nvSpPr>
        <p:spPr>
          <a:xfrm>
            <a:off x="1170432" y="3749040"/>
            <a:ext cx="182880" cy="182880"/>
          </a:xfrm>
          <a:prstGeom prst="ellipse">
            <a:avLst/>
          </a:prstGeom>
          <a:solidFill>
            <a:srgbClr val="C9752B"/>
          </a:solidFill>
          <a:ln w="12700">
            <a:solidFill>
              <a:srgbClr val="C9752B"/>
            </a:solidFill>
            <a:prstDash val="solid"/>
          </a:ln>
        </p:spPr>
      </p:sp>
      <p:sp>
        <p:nvSpPr>
          <p:cNvPr id="12" name="Text 10"/>
          <p:cNvSpPr txBox="1"/>
          <p:nvPr/>
        </p:nvSpPr>
        <p:spPr>
          <a:xfrm>
            <a:off x="1463040" y="3557016"/>
            <a:ext cx="18288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Basil</a:t>
            </a:r>
            <a:endParaRPr lang="en-US" sz="1300" dirty="0"/>
          </a:p>
        </p:txBody>
      </p:sp>
      <p:sp>
        <p:nvSpPr>
          <p:cNvPr id="13" name="Text 11"/>
          <p:cNvSpPr txBox="1"/>
          <p:nvPr/>
        </p:nvSpPr>
        <p:spPr>
          <a:xfrm>
            <a:off x="1463040" y="3840480"/>
            <a:ext cx="1828800" cy="274320"/>
          </a:xfrm>
          <a:prstGeom prst="rect">
            <a:avLst/>
          </a:prstGeom>
          <a:noFill/>
          <a:ln/>
        </p:spPr>
        <p:txBody>
          <a:bodyPr wrap="square" lIns="0" tIns="0" rIns="0" bIns="0" rtlCol="0" anchor="ctr"/>
          <a:lstStyle/>
          <a:p>
            <a:pPr indent="0" marL="0">
              <a:buNone/>
            </a:pPr>
            <a:r>
              <a:rPr lang="en-US" sz="1050" dirty="0">
                <a:solidFill>
                  <a:srgbClr val="AFC2B2"/>
                </a:solidFill>
                <a:latin typeface="Calibri" pitchFamily="34" charset="0"/>
                <a:ea typeface="Calibri" pitchFamily="34" charset="-122"/>
                <a:cs typeface="Calibri" pitchFamily="34" charset="-120"/>
              </a:rPr>
              <a:t>Moisture 28%   ·   Watering</a:t>
            </a:r>
            <a:endParaRPr lang="en-US" sz="1050" dirty="0"/>
          </a:p>
        </p:txBody>
      </p:sp>
      <p:sp>
        <p:nvSpPr>
          <p:cNvPr id="14" name="Shape 12"/>
          <p:cNvSpPr/>
          <p:nvPr/>
        </p:nvSpPr>
        <p:spPr>
          <a:xfrm>
            <a:off x="1005840" y="4443984"/>
            <a:ext cx="2377440" cy="841248"/>
          </a:xfrm>
          <a:prstGeom prst="roundRect">
            <a:avLst>
              <a:gd name="adj" fmla="val 7609"/>
            </a:avLst>
          </a:prstGeom>
          <a:solidFill>
            <a:srgbClr val="213F25"/>
          </a:solidFill>
          <a:ln w="12700">
            <a:solidFill>
              <a:srgbClr val="2C5233"/>
            </a:solidFill>
            <a:prstDash val="solid"/>
          </a:ln>
        </p:spPr>
      </p:sp>
      <p:sp>
        <p:nvSpPr>
          <p:cNvPr id="15" name="Shape 13"/>
          <p:cNvSpPr/>
          <p:nvPr/>
        </p:nvSpPr>
        <p:spPr>
          <a:xfrm>
            <a:off x="1170432" y="4773168"/>
            <a:ext cx="182880" cy="182880"/>
          </a:xfrm>
          <a:prstGeom prst="ellipse">
            <a:avLst/>
          </a:prstGeom>
          <a:solidFill>
            <a:srgbClr val="97BC62"/>
          </a:solidFill>
          <a:ln w="12700">
            <a:solidFill>
              <a:srgbClr val="97BC62"/>
            </a:solidFill>
            <a:prstDash val="solid"/>
          </a:ln>
        </p:spPr>
      </p:sp>
      <p:sp>
        <p:nvSpPr>
          <p:cNvPr id="16" name="Text 14"/>
          <p:cNvSpPr txBox="1"/>
          <p:nvPr/>
        </p:nvSpPr>
        <p:spPr>
          <a:xfrm>
            <a:off x="1463040" y="4581144"/>
            <a:ext cx="18288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Fern</a:t>
            </a:r>
            <a:endParaRPr lang="en-US" sz="1300" dirty="0"/>
          </a:p>
        </p:txBody>
      </p:sp>
      <p:sp>
        <p:nvSpPr>
          <p:cNvPr id="17" name="Text 15"/>
          <p:cNvSpPr txBox="1"/>
          <p:nvPr/>
        </p:nvSpPr>
        <p:spPr>
          <a:xfrm>
            <a:off x="1463040" y="4864608"/>
            <a:ext cx="1828800" cy="274320"/>
          </a:xfrm>
          <a:prstGeom prst="rect">
            <a:avLst/>
          </a:prstGeom>
          <a:noFill/>
          <a:ln/>
        </p:spPr>
        <p:txBody>
          <a:bodyPr wrap="square" lIns="0" tIns="0" rIns="0" bIns="0" rtlCol="0" anchor="ctr"/>
          <a:lstStyle/>
          <a:p>
            <a:pPr indent="0" marL="0">
              <a:buNone/>
            </a:pPr>
            <a:r>
              <a:rPr lang="en-US" sz="1050" dirty="0">
                <a:solidFill>
                  <a:srgbClr val="AFC2B2"/>
                </a:solidFill>
                <a:latin typeface="Calibri" pitchFamily="34" charset="0"/>
                <a:ea typeface="Calibri" pitchFamily="34" charset="-122"/>
                <a:cs typeface="Calibri" pitchFamily="34" charset="-120"/>
              </a:rPr>
              <a:t>Light 4.1 / 6.0 DLI</a:t>
            </a:r>
            <a:endParaRPr lang="en-US" sz="1050" dirty="0"/>
          </a:p>
        </p:txBody>
      </p:sp>
      <p:sp>
        <p:nvSpPr>
          <p:cNvPr id="18" name="Text 16"/>
          <p:cNvSpPr txBox="1"/>
          <p:nvPr/>
        </p:nvSpPr>
        <p:spPr>
          <a:xfrm>
            <a:off x="777240" y="6053328"/>
            <a:ext cx="2834640" cy="274320"/>
          </a:xfrm>
          <a:prstGeom prst="rect">
            <a:avLst/>
          </a:prstGeom>
          <a:noFill/>
          <a:ln/>
        </p:spPr>
        <p:txBody>
          <a:bodyPr wrap="square" lIns="0" tIns="0" rIns="0" bIns="0" rtlCol="0" anchor="ctr"/>
          <a:lstStyle/>
          <a:p>
            <a:pPr algn="ctr" indent="0" marL="0">
              <a:buNone/>
            </a:pPr>
            <a:r>
              <a:rPr lang="en-US" sz="1050" i="1" dirty="0">
                <a:solidFill>
                  <a:srgbClr val="8A968C"/>
                </a:solidFill>
                <a:latin typeface="Calibri" pitchFamily="34" charset="0"/>
                <a:ea typeface="Calibri" pitchFamily="34" charset="-122"/>
                <a:cs typeface="Calibri" pitchFamily="34" charset="-120"/>
              </a:rPr>
              <a:t>Installed as an app · works offline</a:t>
            </a:r>
            <a:endParaRPr lang="en-US" sz="1050" dirty="0"/>
          </a:p>
        </p:txBody>
      </p:sp>
      <p:sp>
        <p:nvSpPr>
          <p:cNvPr id="19" name="Shape 17"/>
          <p:cNvSpPr/>
          <p:nvPr/>
        </p:nvSpPr>
        <p:spPr>
          <a:xfrm>
            <a:off x="4023360" y="1865376"/>
            <a:ext cx="384048" cy="384048"/>
          </a:xfrm>
          <a:prstGeom prst="ellipse">
            <a:avLst/>
          </a:prstGeom>
          <a:solidFill>
            <a:srgbClr val="EFF4ED"/>
          </a:solidFill>
          <a:ln w="19050">
            <a:solidFill>
              <a:srgbClr val="97BC62"/>
            </a:solidFill>
            <a:prstDash val="solid"/>
          </a:ln>
        </p:spPr>
      </p:sp>
      <p:sp>
        <p:nvSpPr>
          <p:cNvPr id="20" name="Text 18"/>
          <p:cNvSpPr txBox="1"/>
          <p:nvPr/>
        </p:nvSpPr>
        <p:spPr>
          <a:xfrm>
            <a:off x="4023360" y="1865376"/>
            <a:ext cx="384048" cy="384048"/>
          </a:xfrm>
          <a:prstGeom prst="rect">
            <a:avLst/>
          </a:prstGeom>
          <a:noFill/>
          <a:ln/>
        </p:spPr>
        <p:txBody>
          <a:bodyPr wrap="square" lIns="0" tIns="0" rIns="0" bIns="0" rtlCol="0" anchor="ctr"/>
          <a:lstStyle/>
          <a:p>
            <a:pPr algn="ctr" indent="0" marL="0">
              <a:buNone/>
            </a:pPr>
            <a:r>
              <a:rPr lang="en-US" sz="1200" b="1" dirty="0">
                <a:solidFill>
                  <a:srgbClr val="2C5F2D"/>
                </a:solidFill>
                <a:latin typeface="Calibri" pitchFamily="34" charset="0"/>
                <a:ea typeface="Calibri" pitchFamily="34" charset="-122"/>
                <a:cs typeface="Calibri" pitchFamily="34" charset="-120"/>
              </a:rPr>
              <a:t>1</a:t>
            </a:r>
            <a:endParaRPr lang="en-US" sz="1200" dirty="0"/>
          </a:p>
        </p:txBody>
      </p:sp>
      <p:sp>
        <p:nvSpPr>
          <p:cNvPr id="21" name="Text 19"/>
          <p:cNvSpPr txBox="1"/>
          <p:nvPr/>
        </p:nvSpPr>
        <p:spPr>
          <a:xfrm>
            <a:off x="4572000" y="1828800"/>
            <a:ext cx="6949440" cy="310896"/>
          </a:xfrm>
          <a:prstGeom prst="rect">
            <a:avLst/>
          </a:prstGeom>
          <a:noFill/>
          <a:ln/>
        </p:spPr>
        <p:txBody>
          <a:bodyPr wrap="square" lIns="0" tIns="0" rIns="0" bIns="0" rtlCol="0" anchor="ctr"/>
          <a:lstStyle/>
          <a:p>
            <a:pPr indent="0" marL="0">
              <a:buNone/>
            </a:pPr>
            <a:r>
              <a:rPr lang="en-US" sz="1600" b="1" dirty="0">
                <a:solidFill>
                  <a:srgbClr val="1F2A20"/>
                </a:solidFill>
                <a:latin typeface="Calibri" pitchFamily="34" charset="0"/>
                <a:ea typeface="Calibri" pitchFamily="34" charset="-122"/>
                <a:cs typeface="Calibri" pitchFamily="34" charset="-120"/>
              </a:rPr>
              <a:t>Is anything thirsty?</a:t>
            </a:r>
            <a:endParaRPr lang="en-US" sz="1600" dirty="0"/>
          </a:p>
        </p:txBody>
      </p:sp>
      <p:sp>
        <p:nvSpPr>
          <p:cNvPr id="22" name="Text 20"/>
          <p:cNvSpPr txBox="1"/>
          <p:nvPr/>
        </p:nvSpPr>
        <p:spPr>
          <a:xfrm>
            <a:off x="4572000" y="2176272"/>
            <a:ext cx="6949440" cy="566928"/>
          </a:xfrm>
          <a:prstGeom prst="rect">
            <a:avLst/>
          </a:prstGeom>
          <a:noFill/>
          <a:ln/>
        </p:spPr>
        <p:txBody>
          <a:bodyPr wrap="square" lIns="0" tIns="0" rIns="0" bIns="0" rtlCol="0" anchor="t"/>
          <a:lstStyle/>
          <a:p>
            <a:pPr indent="0" marL="0">
              <a:lnSpc>
                <a:spcPts val="1700"/>
              </a:lnSpc>
              <a:buNone/>
            </a:pPr>
            <a:r>
              <a:rPr lang="en-US" sz="1250" dirty="0">
                <a:solidFill>
                  <a:srgbClr val="56635A"/>
                </a:solidFill>
                <a:latin typeface="Calibri" pitchFamily="34" charset="0"/>
                <a:ea typeface="Calibri" pitchFamily="34" charset="-122"/>
                <a:cs typeface="Calibri" pitchFamily="34" charset="-120"/>
              </a:rPr>
              <a:t>Plant cards show current moisture and light against each plant's own target — at a glance, from anywhere.</a:t>
            </a:r>
            <a:endParaRPr lang="en-US" sz="1250" dirty="0"/>
          </a:p>
        </p:txBody>
      </p:sp>
      <p:sp>
        <p:nvSpPr>
          <p:cNvPr id="23" name="Shape 21"/>
          <p:cNvSpPr/>
          <p:nvPr/>
        </p:nvSpPr>
        <p:spPr>
          <a:xfrm>
            <a:off x="4023360" y="2944368"/>
            <a:ext cx="384048" cy="384048"/>
          </a:xfrm>
          <a:prstGeom prst="ellipse">
            <a:avLst/>
          </a:prstGeom>
          <a:solidFill>
            <a:srgbClr val="EFF4ED"/>
          </a:solidFill>
          <a:ln w="19050">
            <a:solidFill>
              <a:srgbClr val="97BC62"/>
            </a:solidFill>
            <a:prstDash val="solid"/>
          </a:ln>
        </p:spPr>
      </p:sp>
      <p:sp>
        <p:nvSpPr>
          <p:cNvPr id="24" name="Text 22"/>
          <p:cNvSpPr txBox="1"/>
          <p:nvPr/>
        </p:nvSpPr>
        <p:spPr>
          <a:xfrm>
            <a:off x="4023360" y="2944368"/>
            <a:ext cx="384048" cy="384048"/>
          </a:xfrm>
          <a:prstGeom prst="rect">
            <a:avLst/>
          </a:prstGeom>
          <a:noFill/>
          <a:ln/>
        </p:spPr>
        <p:txBody>
          <a:bodyPr wrap="square" lIns="0" tIns="0" rIns="0" bIns="0" rtlCol="0" anchor="ctr"/>
          <a:lstStyle/>
          <a:p>
            <a:pPr algn="ctr" indent="0" marL="0">
              <a:buNone/>
            </a:pPr>
            <a:r>
              <a:rPr lang="en-US" sz="1200" b="1" dirty="0">
                <a:solidFill>
                  <a:srgbClr val="2C5F2D"/>
                </a:solidFill>
                <a:latin typeface="Calibri" pitchFamily="34" charset="0"/>
                <a:ea typeface="Calibri" pitchFamily="34" charset="-122"/>
                <a:cs typeface="Calibri" pitchFamily="34" charset="-120"/>
              </a:rPr>
              <a:t>2</a:t>
            </a:r>
            <a:endParaRPr lang="en-US" sz="1200" dirty="0"/>
          </a:p>
        </p:txBody>
      </p:sp>
      <p:sp>
        <p:nvSpPr>
          <p:cNvPr id="25" name="Text 23"/>
          <p:cNvSpPr txBox="1"/>
          <p:nvPr/>
        </p:nvSpPr>
        <p:spPr>
          <a:xfrm>
            <a:off x="4572000" y="2907792"/>
            <a:ext cx="6949440" cy="310896"/>
          </a:xfrm>
          <a:prstGeom prst="rect">
            <a:avLst/>
          </a:prstGeom>
          <a:noFill/>
          <a:ln/>
        </p:spPr>
        <p:txBody>
          <a:bodyPr wrap="square" lIns="0" tIns="0" rIns="0" bIns="0" rtlCol="0" anchor="ctr"/>
          <a:lstStyle/>
          <a:p>
            <a:pPr indent="0" marL="0">
              <a:buNone/>
            </a:pPr>
            <a:r>
              <a:rPr lang="en-US" sz="1600" b="1" dirty="0">
                <a:solidFill>
                  <a:srgbClr val="1F2A20"/>
                </a:solidFill>
                <a:latin typeface="Calibri" pitchFamily="34" charset="0"/>
                <a:ea typeface="Calibri" pitchFamily="34" charset="-122"/>
                <a:cs typeface="Calibri" pitchFamily="34" charset="-120"/>
              </a:rPr>
              <a:t>What actually happened?</a:t>
            </a:r>
            <a:endParaRPr lang="en-US" sz="1600" dirty="0"/>
          </a:p>
        </p:txBody>
      </p:sp>
      <p:sp>
        <p:nvSpPr>
          <p:cNvPr id="26" name="Text 24"/>
          <p:cNvSpPr txBox="1"/>
          <p:nvPr/>
        </p:nvSpPr>
        <p:spPr>
          <a:xfrm>
            <a:off x="4572000" y="3255264"/>
            <a:ext cx="6949440" cy="566928"/>
          </a:xfrm>
          <a:prstGeom prst="rect">
            <a:avLst/>
          </a:prstGeom>
          <a:noFill/>
          <a:ln/>
        </p:spPr>
        <p:txBody>
          <a:bodyPr wrap="square" lIns="0" tIns="0" rIns="0" bIns="0" rtlCol="0" anchor="t"/>
          <a:lstStyle/>
          <a:p>
            <a:pPr indent="0" marL="0">
              <a:lnSpc>
                <a:spcPts val="1700"/>
              </a:lnSpc>
              <a:buNone/>
            </a:pPr>
            <a:r>
              <a:rPr lang="en-US" sz="1250" dirty="0">
                <a:solidFill>
                  <a:srgbClr val="56635A"/>
                </a:solidFill>
                <a:latin typeface="Calibri" pitchFamily="34" charset="0"/>
                <a:ea typeface="Calibri" pitchFamily="34" charset="-122"/>
                <a:cs typeface="Calibri" pitchFamily="34" charset="-120"/>
              </a:rPr>
              <a:t>History charts mark every watering on the time axis, so you can see the moisture response it produced.</a:t>
            </a:r>
            <a:endParaRPr lang="en-US" sz="1250" dirty="0"/>
          </a:p>
        </p:txBody>
      </p:sp>
      <p:sp>
        <p:nvSpPr>
          <p:cNvPr id="27" name="Shape 25"/>
          <p:cNvSpPr/>
          <p:nvPr/>
        </p:nvSpPr>
        <p:spPr>
          <a:xfrm>
            <a:off x="4023360" y="4023360"/>
            <a:ext cx="384048" cy="384048"/>
          </a:xfrm>
          <a:prstGeom prst="ellipse">
            <a:avLst/>
          </a:prstGeom>
          <a:solidFill>
            <a:srgbClr val="EFF4ED"/>
          </a:solidFill>
          <a:ln w="19050">
            <a:solidFill>
              <a:srgbClr val="97BC62"/>
            </a:solidFill>
            <a:prstDash val="solid"/>
          </a:ln>
        </p:spPr>
      </p:sp>
      <p:sp>
        <p:nvSpPr>
          <p:cNvPr id="28" name="Text 26"/>
          <p:cNvSpPr txBox="1"/>
          <p:nvPr/>
        </p:nvSpPr>
        <p:spPr>
          <a:xfrm>
            <a:off x="4023360" y="4023360"/>
            <a:ext cx="384048" cy="384048"/>
          </a:xfrm>
          <a:prstGeom prst="rect">
            <a:avLst/>
          </a:prstGeom>
          <a:noFill/>
          <a:ln/>
        </p:spPr>
        <p:txBody>
          <a:bodyPr wrap="square" lIns="0" tIns="0" rIns="0" bIns="0" rtlCol="0" anchor="ctr"/>
          <a:lstStyle/>
          <a:p>
            <a:pPr algn="ctr" indent="0" marL="0">
              <a:buNone/>
            </a:pPr>
            <a:r>
              <a:rPr lang="en-US" sz="1200" b="1" dirty="0">
                <a:solidFill>
                  <a:srgbClr val="2C5F2D"/>
                </a:solidFill>
                <a:latin typeface="Calibri" pitchFamily="34" charset="0"/>
                <a:ea typeface="Calibri" pitchFamily="34" charset="-122"/>
                <a:cs typeface="Calibri" pitchFamily="34" charset="-120"/>
              </a:rPr>
              <a:t>3</a:t>
            </a:r>
            <a:endParaRPr lang="en-US" sz="1200" dirty="0"/>
          </a:p>
        </p:txBody>
      </p:sp>
      <p:sp>
        <p:nvSpPr>
          <p:cNvPr id="29" name="Text 27"/>
          <p:cNvSpPr txBox="1"/>
          <p:nvPr/>
        </p:nvSpPr>
        <p:spPr>
          <a:xfrm>
            <a:off x="4572000" y="3986784"/>
            <a:ext cx="6949440" cy="310896"/>
          </a:xfrm>
          <a:prstGeom prst="rect">
            <a:avLst/>
          </a:prstGeom>
          <a:noFill/>
          <a:ln/>
        </p:spPr>
        <p:txBody>
          <a:bodyPr wrap="square" lIns="0" tIns="0" rIns="0" bIns="0" rtlCol="0" anchor="ctr"/>
          <a:lstStyle/>
          <a:p>
            <a:pPr indent="0" marL="0">
              <a:buNone/>
            </a:pPr>
            <a:r>
              <a:rPr lang="en-US" sz="1600" b="1" dirty="0">
                <a:solidFill>
                  <a:srgbClr val="1F2A20"/>
                </a:solidFill>
                <a:latin typeface="Calibri" pitchFamily="34" charset="0"/>
                <a:ea typeface="Calibri" pitchFamily="34" charset="-122"/>
                <a:cs typeface="Calibri" pitchFamily="34" charset="-120"/>
              </a:rPr>
              <a:t>Why did it do that?</a:t>
            </a:r>
            <a:endParaRPr lang="en-US" sz="1600" dirty="0"/>
          </a:p>
        </p:txBody>
      </p:sp>
      <p:sp>
        <p:nvSpPr>
          <p:cNvPr id="30" name="Text 28"/>
          <p:cNvSpPr txBox="1"/>
          <p:nvPr/>
        </p:nvSpPr>
        <p:spPr>
          <a:xfrm>
            <a:off x="4572000" y="4334256"/>
            <a:ext cx="6949440" cy="566928"/>
          </a:xfrm>
          <a:prstGeom prst="rect">
            <a:avLst/>
          </a:prstGeom>
          <a:noFill/>
          <a:ln/>
        </p:spPr>
        <p:txBody>
          <a:bodyPr wrap="square" lIns="0" tIns="0" rIns="0" bIns="0" rtlCol="0" anchor="t"/>
          <a:lstStyle/>
          <a:p>
            <a:pPr indent="0" marL="0">
              <a:lnSpc>
                <a:spcPts val="1700"/>
              </a:lnSpc>
              <a:buNone/>
            </a:pPr>
            <a:r>
              <a:rPr lang="en-US" sz="1250" dirty="0">
                <a:solidFill>
                  <a:srgbClr val="56635A"/>
                </a:solidFill>
                <a:latin typeface="Calibri" pitchFamily="34" charset="0"/>
                <a:ea typeface="Calibri" pitchFamily="34" charset="-122"/>
                <a:cs typeface="Calibri" pitchFamily="34" charset="-120"/>
              </a:rPr>
              <a:t>A plain-language decision log records the inputs the system saw and the reason for the action it chose.</a:t>
            </a:r>
            <a:endParaRPr lang="en-US" sz="1250" dirty="0"/>
          </a:p>
        </p:txBody>
      </p:sp>
      <p:sp>
        <p:nvSpPr>
          <p:cNvPr id="31" name="Shape 29"/>
          <p:cNvSpPr/>
          <p:nvPr/>
        </p:nvSpPr>
        <p:spPr>
          <a:xfrm>
            <a:off x="4023360" y="5102352"/>
            <a:ext cx="384048" cy="384048"/>
          </a:xfrm>
          <a:prstGeom prst="ellipse">
            <a:avLst/>
          </a:prstGeom>
          <a:solidFill>
            <a:srgbClr val="EFF4ED"/>
          </a:solidFill>
          <a:ln w="19050">
            <a:solidFill>
              <a:srgbClr val="97BC62"/>
            </a:solidFill>
            <a:prstDash val="solid"/>
          </a:ln>
        </p:spPr>
      </p:sp>
      <p:sp>
        <p:nvSpPr>
          <p:cNvPr id="32" name="Text 30"/>
          <p:cNvSpPr txBox="1"/>
          <p:nvPr/>
        </p:nvSpPr>
        <p:spPr>
          <a:xfrm>
            <a:off x="4023360" y="5102352"/>
            <a:ext cx="384048" cy="384048"/>
          </a:xfrm>
          <a:prstGeom prst="rect">
            <a:avLst/>
          </a:prstGeom>
          <a:noFill/>
          <a:ln/>
        </p:spPr>
        <p:txBody>
          <a:bodyPr wrap="square" lIns="0" tIns="0" rIns="0" bIns="0" rtlCol="0" anchor="ctr"/>
          <a:lstStyle/>
          <a:p>
            <a:pPr algn="ctr" indent="0" marL="0">
              <a:buNone/>
            </a:pPr>
            <a:r>
              <a:rPr lang="en-US" sz="1200" b="1" dirty="0">
                <a:solidFill>
                  <a:srgbClr val="2C5F2D"/>
                </a:solidFill>
                <a:latin typeface="Calibri" pitchFamily="34" charset="0"/>
                <a:ea typeface="Calibri" pitchFamily="34" charset="-122"/>
                <a:cs typeface="Calibri" pitchFamily="34" charset="-120"/>
              </a:rPr>
              <a:t>4</a:t>
            </a:r>
            <a:endParaRPr lang="en-US" sz="1200" dirty="0"/>
          </a:p>
        </p:txBody>
      </p:sp>
      <p:sp>
        <p:nvSpPr>
          <p:cNvPr id="33" name="Text 31"/>
          <p:cNvSpPr txBox="1"/>
          <p:nvPr/>
        </p:nvSpPr>
        <p:spPr>
          <a:xfrm>
            <a:off x="4572000" y="5065776"/>
            <a:ext cx="6949440" cy="310896"/>
          </a:xfrm>
          <a:prstGeom prst="rect">
            <a:avLst/>
          </a:prstGeom>
          <a:noFill/>
          <a:ln/>
        </p:spPr>
        <p:txBody>
          <a:bodyPr wrap="square" lIns="0" tIns="0" rIns="0" bIns="0" rtlCol="0" anchor="ctr"/>
          <a:lstStyle/>
          <a:p>
            <a:pPr indent="0" marL="0">
              <a:buNone/>
            </a:pPr>
            <a:r>
              <a:rPr lang="en-US" sz="1600" b="1" dirty="0">
                <a:solidFill>
                  <a:srgbClr val="1F2A20"/>
                </a:solidFill>
                <a:latin typeface="Calibri" pitchFamily="34" charset="0"/>
                <a:ea typeface="Calibri" pitchFamily="34" charset="-122"/>
                <a:cs typeface="Calibri" pitchFamily="34" charset="-120"/>
              </a:rPr>
              <a:t>Take over any time</a:t>
            </a:r>
            <a:endParaRPr lang="en-US" sz="1600" dirty="0"/>
          </a:p>
        </p:txBody>
      </p:sp>
      <p:sp>
        <p:nvSpPr>
          <p:cNvPr id="34" name="Text 32"/>
          <p:cNvSpPr txBox="1"/>
          <p:nvPr/>
        </p:nvSpPr>
        <p:spPr>
          <a:xfrm>
            <a:off x="4572000" y="5413248"/>
            <a:ext cx="6949440" cy="566928"/>
          </a:xfrm>
          <a:prstGeom prst="rect">
            <a:avLst/>
          </a:prstGeom>
          <a:noFill/>
          <a:ln/>
        </p:spPr>
        <p:txBody>
          <a:bodyPr wrap="square" lIns="0" tIns="0" rIns="0" bIns="0" rtlCol="0" anchor="t"/>
          <a:lstStyle/>
          <a:p>
            <a:pPr indent="0" marL="0">
              <a:lnSpc>
                <a:spcPts val="1700"/>
              </a:lnSpc>
              <a:buNone/>
            </a:pPr>
            <a:r>
              <a:rPr lang="en-US" sz="1250" dirty="0">
                <a:solidFill>
                  <a:srgbClr val="56635A"/>
                </a:solidFill>
                <a:latin typeface="Calibri" pitchFamily="34" charset="0"/>
                <a:ea typeface="Calibri" pitchFamily="34" charset="-122"/>
                <a:cs typeface="Calibri" pitchFamily="34" charset="-120"/>
              </a:rPr>
              <a:t>Water or light a zone manually, retune thresholds from your phone, or pause all automation — no restart, no SSH.</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TRUST</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t"/>
          <a:lstStyle/>
          <a:p>
            <a:pPr indent="0" marL="0">
              <a:buNone/>
            </a:pPr>
            <a:r>
              <a:rPr lang="en-US" sz="3400" b="1" dirty="0">
                <a:solidFill>
                  <a:srgbClr val="1F2A20"/>
                </a:solidFill>
                <a:latin typeface="Cambria" pitchFamily="34" charset="0"/>
                <a:ea typeface="Cambria" pitchFamily="34" charset="-122"/>
                <a:cs typeface="Cambria" pitchFamily="34" charset="-120"/>
              </a:rPr>
              <a:t>Three independent brakes on every actuation</a:t>
            </a:r>
            <a:endParaRPr lang="en-US" sz="3400" dirty="0"/>
          </a:p>
        </p:txBody>
      </p:sp>
      <p:sp>
        <p:nvSpPr>
          <p:cNvPr id="4" name="Shape 2"/>
          <p:cNvSpPr/>
          <p:nvPr/>
        </p:nvSpPr>
        <p:spPr>
          <a:xfrm>
            <a:off x="640080" y="1737360"/>
            <a:ext cx="10881360" cy="1051560"/>
          </a:xfrm>
          <a:prstGeom prst="roundRect">
            <a:avLst>
              <a:gd name="adj" fmla="val 7826"/>
            </a:avLst>
          </a:prstGeom>
          <a:solidFill>
            <a:srgbClr val="EFF4ED"/>
          </a:solidFill>
          <a:ln w="12700">
            <a:solidFill>
              <a:srgbClr val="EFF4ED"/>
            </a:solidFill>
            <a:prstDash val="solid"/>
          </a:ln>
          <a:effectLst>
            <a:outerShdw sx="100000" sy="100000" kx="0" ky="0" algn="bl" rotWithShape="0" blurRad="127000" dist="25400" dir="5400000">
              <a:srgbClr val="9BAA9D">
                <a:alpha val="28000"/>
              </a:srgbClr>
            </a:outerShdw>
          </a:effectLst>
        </p:spPr>
      </p:sp>
      <p:sp>
        <p:nvSpPr>
          <p:cNvPr id="5" name="Text 3"/>
          <p:cNvSpPr txBox="1"/>
          <p:nvPr/>
        </p:nvSpPr>
        <p:spPr>
          <a:xfrm>
            <a:off x="960120" y="1956816"/>
            <a:ext cx="1371600" cy="256032"/>
          </a:xfrm>
          <a:prstGeom prst="rect">
            <a:avLst/>
          </a:prstGeom>
          <a:noFill/>
          <a:ln/>
        </p:spPr>
        <p:txBody>
          <a:bodyPr wrap="square" lIns="0" tIns="0" rIns="0" bIns="0" rtlCol="0" anchor="ctr"/>
          <a:lstStyle/>
          <a:p>
            <a:pPr indent="0" marL="0">
              <a:buNone/>
            </a:pPr>
            <a:r>
              <a:rPr lang="en-US" sz="1050" b="1" spc="150" kern="0" dirty="0">
                <a:solidFill>
                  <a:srgbClr val="8A968C"/>
                </a:solidFill>
                <a:latin typeface="Calibri" pitchFamily="34" charset="0"/>
                <a:ea typeface="Calibri" pitchFamily="34" charset="-122"/>
                <a:cs typeface="Calibri" pitchFamily="34" charset="-120"/>
              </a:rPr>
              <a:t>LAYER 1</a:t>
            </a:r>
            <a:endParaRPr lang="en-US" sz="1050" dirty="0"/>
          </a:p>
        </p:txBody>
      </p:sp>
      <p:sp>
        <p:nvSpPr>
          <p:cNvPr id="6" name="Text 4"/>
          <p:cNvSpPr txBox="1"/>
          <p:nvPr/>
        </p:nvSpPr>
        <p:spPr>
          <a:xfrm>
            <a:off x="960120" y="2240280"/>
            <a:ext cx="2651760" cy="329184"/>
          </a:xfrm>
          <a:prstGeom prst="rect">
            <a:avLst/>
          </a:prstGeom>
          <a:noFill/>
          <a:ln/>
        </p:spPr>
        <p:txBody>
          <a:bodyPr wrap="square" lIns="0" tIns="0" rIns="0" bIns="0" rtlCol="0" anchor="ctr"/>
          <a:lstStyle/>
          <a:p>
            <a:pPr indent="0" marL="0">
              <a:buNone/>
            </a:pPr>
            <a:r>
              <a:rPr lang="en-US" sz="1500" b="1" dirty="0">
                <a:solidFill>
                  <a:srgbClr val="1F2A20"/>
                </a:solidFill>
                <a:latin typeface="Calibri" pitchFamily="34" charset="0"/>
                <a:ea typeface="Calibri" pitchFamily="34" charset="-122"/>
                <a:cs typeface="Calibri" pitchFamily="34" charset="-120"/>
              </a:rPr>
              <a:t>Configured limits</a:t>
            </a:r>
            <a:endParaRPr lang="en-US" sz="1500" dirty="0"/>
          </a:p>
        </p:txBody>
      </p:sp>
      <p:sp>
        <p:nvSpPr>
          <p:cNvPr id="7" name="Text 5"/>
          <p:cNvSpPr txBox="1"/>
          <p:nvPr/>
        </p:nvSpPr>
        <p:spPr>
          <a:xfrm>
            <a:off x="3840480" y="1956816"/>
            <a:ext cx="7406640" cy="658368"/>
          </a:xfrm>
          <a:prstGeom prst="rect">
            <a:avLst/>
          </a:prstGeom>
          <a:noFill/>
          <a:ln/>
        </p:spPr>
        <p:txBody>
          <a:bodyPr wrap="square" lIns="0" tIns="0" rIns="0" bIns="0" rtlCol="0" anchor="t"/>
          <a:lstStyle/>
          <a:p>
            <a:pPr indent="0" marL="0">
              <a:lnSpc>
                <a:spcPts val="1700"/>
              </a:lnSpc>
              <a:buNone/>
            </a:pPr>
            <a:r>
              <a:rPr lang="en-US" sz="1250" dirty="0">
                <a:solidFill>
                  <a:srgbClr val="56635A"/>
                </a:solidFill>
                <a:latin typeface="Calibri" pitchFamily="34" charset="0"/>
                <a:ea typeface="Calibri" pitchFamily="34" charset="-122"/>
                <a:cs typeface="Calibri" pitchFamily="34" charset="-120"/>
              </a:rPr>
              <a:t>Watering windows, a daily water budget per zone and an hourly pulse cap. A guard can veto an action or shorten it — never lengthen or create one.</a:t>
            </a:r>
            <a:endParaRPr lang="en-US" sz="1250" dirty="0"/>
          </a:p>
        </p:txBody>
      </p:sp>
      <p:sp>
        <p:nvSpPr>
          <p:cNvPr id="8" name="Shape 6"/>
          <p:cNvSpPr/>
          <p:nvPr/>
        </p:nvSpPr>
        <p:spPr>
          <a:xfrm>
            <a:off x="640080" y="2971800"/>
            <a:ext cx="10881360" cy="1051560"/>
          </a:xfrm>
          <a:prstGeom prst="roundRect">
            <a:avLst>
              <a:gd name="adj" fmla="val 7826"/>
            </a:avLst>
          </a:prstGeom>
          <a:solidFill>
            <a:srgbClr val="EFF4ED"/>
          </a:solidFill>
          <a:ln w="12700">
            <a:solidFill>
              <a:srgbClr val="EFF4ED"/>
            </a:solidFill>
            <a:prstDash val="solid"/>
          </a:ln>
          <a:effectLst>
            <a:outerShdw sx="100000" sy="100000" kx="0" ky="0" algn="bl" rotWithShape="0" blurRad="127000" dist="25400" dir="5400000">
              <a:srgbClr val="9BAA9D">
                <a:alpha val="28000"/>
              </a:srgbClr>
            </a:outerShdw>
          </a:effectLst>
        </p:spPr>
      </p:sp>
      <p:sp>
        <p:nvSpPr>
          <p:cNvPr id="9" name="Text 7"/>
          <p:cNvSpPr txBox="1"/>
          <p:nvPr/>
        </p:nvSpPr>
        <p:spPr>
          <a:xfrm>
            <a:off x="960120" y="3191256"/>
            <a:ext cx="1371600" cy="256032"/>
          </a:xfrm>
          <a:prstGeom prst="rect">
            <a:avLst/>
          </a:prstGeom>
          <a:noFill/>
          <a:ln/>
        </p:spPr>
        <p:txBody>
          <a:bodyPr wrap="square" lIns="0" tIns="0" rIns="0" bIns="0" rtlCol="0" anchor="ctr"/>
          <a:lstStyle/>
          <a:p>
            <a:pPr indent="0" marL="0">
              <a:buNone/>
            </a:pPr>
            <a:r>
              <a:rPr lang="en-US" sz="1050" b="1" spc="150" kern="0" dirty="0">
                <a:solidFill>
                  <a:srgbClr val="8A968C"/>
                </a:solidFill>
                <a:latin typeface="Calibri" pitchFamily="34" charset="0"/>
                <a:ea typeface="Calibri" pitchFamily="34" charset="-122"/>
                <a:cs typeface="Calibri" pitchFamily="34" charset="-120"/>
              </a:rPr>
              <a:t>LAYER 2</a:t>
            </a:r>
            <a:endParaRPr lang="en-US" sz="1050" dirty="0"/>
          </a:p>
        </p:txBody>
      </p:sp>
      <p:sp>
        <p:nvSpPr>
          <p:cNvPr id="10" name="Text 8"/>
          <p:cNvSpPr txBox="1"/>
          <p:nvPr/>
        </p:nvSpPr>
        <p:spPr>
          <a:xfrm>
            <a:off x="960120" y="3474720"/>
            <a:ext cx="2651760" cy="329184"/>
          </a:xfrm>
          <a:prstGeom prst="rect">
            <a:avLst/>
          </a:prstGeom>
          <a:noFill/>
          <a:ln/>
        </p:spPr>
        <p:txBody>
          <a:bodyPr wrap="square" lIns="0" tIns="0" rIns="0" bIns="0" rtlCol="0" anchor="ctr"/>
          <a:lstStyle/>
          <a:p>
            <a:pPr indent="0" marL="0">
              <a:buNone/>
            </a:pPr>
            <a:r>
              <a:rPr lang="en-US" sz="1500" b="1" dirty="0">
                <a:solidFill>
                  <a:srgbClr val="1F2A20"/>
                </a:solidFill>
                <a:latin typeface="Calibri" pitchFamily="34" charset="0"/>
                <a:ea typeface="Calibri" pitchFamily="34" charset="-122"/>
                <a:cs typeface="Calibri" pitchFamily="34" charset="-120"/>
              </a:rPr>
              <a:t>Driver-enforced maximum</a:t>
            </a:r>
            <a:endParaRPr lang="en-US" sz="1500" dirty="0"/>
          </a:p>
        </p:txBody>
      </p:sp>
      <p:sp>
        <p:nvSpPr>
          <p:cNvPr id="11" name="Text 9"/>
          <p:cNvSpPr txBox="1"/>
          <p:nvPr/>
        </p:nvSpPr>
        <p:spPr>
          <a:xfrm>
            <a:off x="3840480" y="3191256"/>
            <a:ext cx="7406640" cy="658368"/>
          </a:xfrm>
          <a:prstGeom prst="rect">
            <a:avLst/>
          </a:prstGeom>
          <a:noFill/>
          <a:ln/>
        </p:spPr>
        <p:txBody>
          <a:bodyPr wrap="square" lIns="0" tIns="0" rIns="0" bIns="0" rtlCol="0" anchor="t"/>
          <a:lstStyle/>
          <a:p>
            <a:pPr indent="0" marL="0">
              <a:lnSpc>
                <a:spcPts val="1700"/>
              </a:lnSpc>
              <a:buNone/>
            </a:pPr>
            <a:r>
              <a:rPr lang="en-US" sz="1250" dirty="0">
                <a:solidFill>
                  <a:srgbClr val="56635A"/>
                </a:solidFill>
                <a:latin typeface="Calibri" pitchFamily="34" charset="0"/>
                <a:ea typeface="Calibri" pitchFamily="34" charset="-122"/>
                <a:cs typeface="Calibri" pitchFamily="34" charset="-120"/>
              </a:rPr>
              <a:t>Every device declares its own maximum on-time, enforced inside the driver regardless of what the caller asks for.</a:t>
            </a:r>
            <a:endParaRPr lang="en-US" sz="1250" dirty="0"/>
          </a:p>
        </p:txBody>
      </p:sp>
      <p:sp>
        <p:nvSpPr>
          <p:cNvPr id="12" name="Shape 10"/>
          <p:cNvSpPr/>
          <p:nvPr/>
        </p:nvSpPr>
        <p:spPr>
          <a:xfrm>
            <a:off x="640080" y="4206240"/>
            <a:ext cx="10881360" cy="1051560"/>
          </a:xfrm>
          <a:prstGeom prst="roundRect">
            <a:avLst>
              <a:gd name="adj" fmla="val 7826"/>
            </a:avLst>
          </a:prstGeom>
          <a:solidFill>
            <a:srgbClr val="2C5F2D"/>
          </a:solidFill>
          <a:ln w="12700">
            <a:solidFill>
              <a:srgbClr val="2C5F2D"/>
            </a:solidFill>
            <a:prstDash val="solid"/>
          </a:ln>
          <a:effectLst>
            <a:outerShdw sx="100000" sy="100000" kx="0" ky="0" algn="bl" rotWithShape="0" blurRad="127000" dist="25400" dir="5400000">
              <a:srgbClr val="9BAA9D">
                <a:alpha val="28000"/>
              </a:srgbClr>
            </a:outerShdw>
          </a:effectLst>
        </p:spPr>
      </p:sp>
      <p:sp>
        <p:nvSpPr>
          <p:cNvPr id="13" name="Text 11"/>
          <p:cNvSpPr txBox="1"/>
          <p:nvPr/>
        </p:nvSpPr>
        <p:spPr>
          <a:xfrm>
            <a:off x="960120" y="4425696"/>
            <a:ext cx="1371600" cy="256032"/>
          </a:xfrm>
          <a:prstGeom prst="rect">
            <a:avLst/>
          </a:prstGeom>
          <a:noFill/>
          <a:ln/>
        </p:spPr>
        <p:txBody>
          <a:bodyPr wrap="square" lIns="0" tIns="0" rIns="0" bIns="0" rtlCol="0" anchor="ctr"/>
          <a:lstStyle/>
          <a:p>
            <a:pPr indent="0" marL="0">
              <a:buNone/>
            </a:pPr>
            <a:r>
              <a:rPr lang="en-US" sz="1050" b="1" spc="150" kern="0" dirty="0">
                <a:solidFill>
                  <a:srgbClr val="97BC62"/>
                </a:solidFill>
                <a:latin typeface="Calibri" pitchFamily="34" charset="0"/>
                <a:ea typeface="Calibri" pitchFamily="34" charset="-122"/>
                <a:cs typeface="Calibri" pitchFamily="34" charset="-120"/>
              </a:rPr>
              <a:t>LAYER 3</a:t>
            </a:r>
            <a:endParaRPr lang="en-US" sz="1050" dirty="0"/>
          </a:p>
        </p:txBody>
      </p:sp>
      <p:sp>
        <p:nvSpPr>
          <p:cNvPr id="14" name="Text 12"/>
          <p:cNvSpPr txBox="1"/>
          <p:nvPr/>
        </p:nvSpPr>
        <p:spPr>
          <a:xfrm>
            <a:off x="960120" y="4709160"/>
            <a:ext cx="265176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Independent watchdog</a:t>
            </a:r>
            <a:endParaRPr lang="en-US" sz="1500" dirty="0"/>
          </a:p>
        </p:txBody>
      </p:sp>
      <p:sp>
        <p:nvSpPr>
          <p:cNvPr id="15" name="Text 13"/>
          <p:cNvSpPr txBox="1"/>
          <p:nvPr/>
        </p:nvSpPr>
        <p:spPr>
          <a:xfrm>
            <a:off x="3840480" y="4425696"/>
            <a:ext cx="7406640" cy="658368"/>
          </a:xfrm>
          <a:prstGeom prst="rect">
            <a:avLst/>
          </a:prstGeom>
          <a:noFill/>
          <a:ln/>
        </p:spPr>
        <p:txBody>
          <a:bodyPr wrap="square" lIns="0" tIns="0" rIns="0" bIns="0" rtlCol="0" anchor="t"/>
          <a:lstStyle/>
          <a:p>
            <a:pPr indent="0" marL="0">
              <a:lnSpc>
                <a:spcPts val="1700"/>
              </a:lnSpc>
              <a:buNone/>
            </a:pPr>
            <a:r>
              <a:rPr lang="en-US" sz="1250" dirty="0">
                <a:solidFill>
                  <a:srgbClr val="D6E3D7"/>
                </a:solidFill>
                <a:latin typeface="Calibri" pitchFamily="34" charset="0"/>
                <a:ea typeface="Calibri" pitchFamily="34" charset="-122"/>
                <a:cs typeface="Calibri" pitchFamily="34" charset="-120"/>
              </a:rPr>
              <a:t>A separate thread tracks on-time per device and forces anything overdue off — and a standalone shutdown script drives every output safe even if the application itself is gone.</a:t>
            </a:r>
            <a:endParaRPr lang="en-US" sz="1250" dirty="0"/>
          </a:p>
        </p:txBody>
      </p:sp>
      <p:sp>
        <p:nvSpPr>
          <p:cNvPr id="16" name="Shape 14"/>
          <p:cNvSpPr/>
          <p:nvPr/>
        </p:nvSpPr>
        <p:spPr>
          <a:xfrm>
            <a:off x="640080" y="5532120"/>
            <a:ext cx="10881360" cy="685800"/>
          </a:xfrm>
          <a:prstGeom prst="roundRect">
            <a:avLst>
              <a:gd name="adj" fmla="val 12000"/>
            </a:avLst>
          </a:prstGeom>
          <a:solidFill>
            <a:srgbClr val="FBF3EA"/>
          </a:solidFill>
          <a:ln w="12700">
            <a:solidFill>
              <a:srgbClr val="F0DFC9"/>
            </a:solidFill>
            <a:prstDash val="solid"/>
          </a:ln>
        </p:spPr>
      </p:sp>
      <p:sp>
        <p:nvSpPr>
          <p:cNvPr id="17" name="Text 15"/>
          <p:cNvSpPr txBox="1"/>
          <p:nvPr/>
        </p:nvSpPr>
        <p:spPr>
          <a:xfrm>
            <a:off x="960120" y="5669280"/>
            <a:ext cx="10241280" cy="457200"/>
          </a:xfrm>
          <a:prstGeom prst="rect">
            <a:avLst/>
          </a:prstGeom>
          <a:noFill/>
          <a:ln/>
        </p:spPr>
        <p:txBody>
          <a:bodyPr wrap="square" lIns="0" tIns="0" rIns="0" bIns="0" rtlCol="0" anchor="t"/>
          <a:lstStyle/>
          <a:p>
            <a:pPr indent="0" marL="0">
              <a:lnSpc>
                <a:spcPts val="1700"/>
              </a:lnSpc>
              <a:buNone/>
            </a:pPr>
            <a:r>
              <a:rPr lang="en-US" sz="1250" dirty="0">
                <a:solidFill>
                  <a:srgbClr val="8A5620"/>
                </a:solidFill>
                <a:latin typeface="Calibri" pitchFamily="34" charset="0"/>
                <a:ea typeface="Calibri" pitchFamily="34" charset="-122"/>
                <a:cs typeface="Calibri" pitchFamily="34" charset="-120"/>
              </a:rPr>
              <a:t>Guards only ever subtract.  Two of the three layers reach the hardware without the control loop participating — which is precisely the condition in which a valve gets stuck open.</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WHY IT SCALES</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t"/>
          <a:lstStyle/>
          <a:p>
            <a:pPr indent="0" marL="0">
              <a:buNone/>
            </a:pPr>
            <a:r>
              <a:rPr lang="en-US" sz="3400" b="1" dirty="0">
                <a:solidFill>
                  <a:srgbClr val="1F2A20"/>
                </a:solidFill>
                <a:latin typeface="Cambria" pitchFamily="34" charset="0"/>
                <a:ea typeface="Cambria" pitchFamily="34" charset="-122"/>
                <a:cs typeface="Cambria" pitchFamily="34" charset="-120"/>
              </a:rPr>
              <a:t>Three plants and three hundred are the same system</a:t>
            </a:r>
            <a:endParaRPr lang="en-US" sz="3400" dirty="0"/>
          </a:p>
        </p:txBody>
      </p:sp>
      <p:sp>
        <p:nvSpPr>
          <p:cNvPr id="4" name="Shape 2"/>
          <p:cNvSpPr/>
          <p:nvPr/>
        </p:nvSpPr>
        <p:spPr>
          <a:xfrm>
            <a:off x="640080" y="1783080"/>
            <a:ext cx="5029200" cy="2286000"/>
          </a:xfrm>
          <a:prstGeom prst="roundRect">
            <a:avLst>
              <a:gd name="adj" fmla="val 3600"/>
            </a:avLst>
          </a:prstGeom>
          <a:solidFill>
            <a:srgbClr val="EFF4ED"/>
          </a:solidFill>
          <a:ln w="12700">
            <a:solidFill>
              <a:srgbClr val="EFF4ED"/>
            </a:solidFill>
            <a:prstDash val="solid"/>
          </a:ln>
          <a:effectLst>
            <a:outerShdw sx="100000" sy="100000" kx="0" ky="0" algn="bl" rotWithShape="0" blurRad="127000" dist="25400" dir="5400000">
              <a:srgbClr val="9BAA9D">
                <a:alpha val="28000"/>
              </a:srgbClr>
            </a:outerShdw>
          </a:effectLst>
        </p:spPr>
      </p:sp>
      <p:sp>
        <p:nvSpPr>
          <p:cNvPr id="5" name="Text 3"/>
          <p:cNvSpPr txBox="1"/>
          <p:nvPr/>
        </p:nvSpPr>
        <p:spPr>
          <a:xfrm>
            <a:off x="960120" y="2011680"/>
            <a:ext cx="2743200" cy="256032"/>
          </a:xfrm>
          <a:prstGeom prst="rect">
            <a:avLst/>
          </a:prstGeom>
          <a:noFill/>
          <a:ln/>
        </p:spPr>
        <p:txBody>
          <a:bodyPr wrap="square" lIns="0" tIns="0" rIns="0" bIns="0" rtlCol="0" anchor="ctr"/>
          <a:lstStyle/>
          <a:p>
            <a:pPr indent="0" marL="0">
              <a:buNone/>
            </a:pPr>
            <a:r>
              <a:rPr lang="en-US" sz="1050" b="1" spc="150" kern="0" dirty="0">
                <a:solidFill>
                  <a:srgbClr val="8A968C"/>
                </a:solidFill>
                <a:latin typeface="Calibri" pitchFamily="34" charset="0"/>
                <a:ea typeface="Calibri" pitchFamily="34" charset="-122"/>
                <a:cs typeface="Calibri" pitchFamily="34" charset="-120"/>
              </a:rPr>
              <a:t>TODAY</a:t>
            </a:r>
            <a:endParaRPr lang="en-US" sz="1050" dirty="0"/>
          </a:p>
        </p:txBody>
      </p:sp>
      <p:sp>
        <p:nvSpPr>
          <p:cNvPr id="6" name="Text 4"/>
          <p:cNvSpPr txBox="1"/>
          <p:nvPr/>
        </p:nvSpPr>
        <p:spPr>
          <a:xfrm>
            <a:off x="960120" y="2304288"/>
            <a:ext cx="4389120" cy="365760"/>
          </a:xfrm>
          <a:prstGeom prst="rect">
            <a:avLst/>
          </a:prstGeom>
          <a:noFill/>
          <a:ln/>
        </p:spPr>
        <p:txBody>
          <a:bodyPr wrap="square" lIns="0" tIns="0" rIns="0" bIns="0" rtlCol="0" anchor="ctr"/>
          <a:lstStyle/>
          <a:p>
            <a:pPr indent="0" marL="0">
              <a:buNone/>
            </a:pPr>
            <a:r>
              <a:rPr lang="en-US" sz="2200" b="1" dirty="0">
                <a:solidFill>
                  <a:srgbClr val="1F2A20"/>
                </a:solidFill>
                <a:latin typeface="Cambria" pitchFamily="34" charset="0"/>
                <a:ea typeface="Cambria" pitchFamily="34" charset="-122"/>
                <a:cs typeface="Cambria" pitchFamily="34" charset="-120"/>
              </a:rPr>
              <a:t>One windowsill</a:t>
            </a:r>
            <a:endParaRPr lang="en-US" sz="2200" dirty="0"/>
          </a:p>
        </p:txBody>
      </p:sp>
      <p:sp>
        <p:nvSpPr>
          <p:cNvPr id="7" name="Text 5"/>
          <p:cNvSpPr txBox="1"/>
          <p:nvPr/>
        </p:nvSpPr>
        <p:spPr>
          <a:xfrm>
            <a:off x="960120" y="2743200"/>
            <a:ext cx="4389120" cy="1097280"/>
          </a:xfrm>
          <a:prstGeom prst="rect">
            <a:avLst/>
          </a:prstGeom>
          <a:noFill/>
          <a:ln/>
        </p:spPr>
        <p:txBody>
          <a:bodyPr wrap="square" lIns="0" tIns="0" rIns="0" bIns="0" rtlCol="0" anchor="t"/>
          <a:lstStyle/>
          <a:p>
            <a:pPr indent="0" marL="0">
              <a:lnSpc>
                <a:spcPts val="1900"/>
              </a:lnSpc>
              <a:buNone/>
            </a:pPr>
            <a:r>
              <a:rPr lang="en-US" sz="1300" dirty="0">
                <a:solidFill>
                  <a:srgbClr val="56635A"/>
                </a:solidFill>
                <a:latin typeface="Calibri" pitchFamily="34" charset="0"/>
                <a:ea typeface="Calibri" pitchFamily="34" charset="-122"/>
                <a:cs typeface="Calibri" pitchFamily="34" charset="-120"/>
              </a:rPr>
              <a:t>Three plants, one Raspberry Pi, sensors on a single I2C bus, simulated valves until the irrigation hardware arrives.</a:t>
            </a:r>
            <a:endParaRPr lang="en-US" sz="1300" dirty="0"/>
          </a:p>
        </p:txBody>
      </p:sp>
      <p:sp>
        <p:nvSpPr>
          <p:cNvPr id="8" name="Text 6"/>
          <p:cNvSpPr txBox="1"/>
          <p:nvPr/>
        </p:nvSpPr>
        <p:spPr>
          <a:xfrm>
            <a:off x="5715000" y="2606040"/>
            <a:ext cx="731520" cy="640080"/>
          </a:xfrm>
          <a:prstGeom prst="rect">
            <a:avLst/>
          </a:prstGeom>
          <a:noFill/>
          <a:ln/>
        </p:spPr>
        <p:txBody>
          <a:bodyPr wrap="square" lIns="0" tIns="0" rIns="0" bIns="0" rtlCol="0" anchor="ctr"/>
          <a:lstStyle/>
          <a:p>
            <a:pPr algn="ctr" indent="0" marL="0">
              <a:buNone/>
            </a:pPr>
            <a:r>
              <a:rPr lang="en-US" sz="4000" b="1" dirty="0">
                <a:solidFill>
                  <a:srgbClr val="97BC62"/>
                </a:solidFill>
                <a:latin typeface="Calibri" pitchFamily="34" charset="0"/>
                <a:ea typeface="Calibri" pitchFamily="34" charset="-122"/>
                <a:cs typeface="Calibri" pitchFamily="34" charset="-120"/>
              </a:rPr>
              <a:t>›</a:t>
            </a:r>
            <a:endParaRPr lang="en-US" sz="4000" dirty="0"/>
          </a:p>
        </p:txBody>
      </p:sp>
      <p:sp>
        <p:nvSpPr>
          <p:cNvPr id="9" name="Shape 7"/>
          <p:cNvSpPr/>
          <p:nvPr/>
        </p:nvSpPr>
        <p:spPr>
          <a:xfrm>
            <a:off x="6492240" y="1783080"/>
            <a:ext cx="5029200" cy="2286000"/>
          </a:xfrm>
          <a:prstGeom prst="roundRect">
            <a:avLst>
              <a:gd name="adj" fmla="val 3600"/>
            </a:avLst>
          </a:prstGeom>
          <a:solidFill>
            <a:srgbClr val="2C5F2D"/>
          </a:solidFill>
          <a:ln w="12700">
            <a:solidFill>
              <a:srgbClr val="2C5F2D"/>
            </a:solidFill>
            <a:prstDash val="solid"/>
          </a:ln>
          <a:effectLst>
            <a:outerShdw sx="100000" sy="100000" kx="0" ky="0" algn="bl" rotWithShape="0" blurRad="127000" dist="25400" dir="5400000">
              <a:srgbClr val="9BAA9D">
                <a:alpha val="28000"/>
              </a:srgbClr>
            </a:outerShdw>
          </a:effectLst>
        </p:spPr>
      </p:sp>
      <p:sp>
        <p:nvSpPr>
          <p:cNvPr id="10" name="Text 8"/>
          <p:cNvSpPr txBox="1"/>
          <p:nvPr/>
        </p:nvSpPr>
        <p:spPr>
          <a:xfrm>
            <a:off x="6812280" y="2011680"/>
            <a:ext cx="2743200" cy="256032"/>
          </a:xfrm>
          <a:prstGeom prst="rect">
            <a:avLst/>
          </a:prstGeom>
          <a:noFill/>
          <a:ln/>
        </p:spPr>
        <p:txBody>
          <a:bodyPr wrap="square" lIns="0" tIns="0" rIns="0" bIns="0" rtlCol="0" anchor="ctr"/>
          <a:lstStyle/>
          <a:p>
            <a:pPr indent="0" marL="0">
              <a:buNone/>
            </a:pPr>
            <a:r>
              <a:rPr lang="en-US" sz="1050" b="1" spc="150" kern="0" dirty="0">
                <a:solidFill>
                  <a:srgbClr val="97BC62"/>
                </a:solidFill>
                <a:latin typeface="Calibri" pitchFamily="34" charset="0"/>
                <a:ea typeface="Calibri" pitchFamily="34" charset="-122"/>
                <a:cs typeface="Calibri" pitchFamily="34" charset="-120"/>
              </a:rPr>
              <a:t>LATER</a:t>
            </a:r>
            <a:endParaRPr lang="en-US" sz="1050" dirty="0"/>
          </a:p>
        </p:txBody>
      </p:sp>
      <p:sp>
        <p:nvSpPr>
          <p:cNvPr id="11" name="Text 9"/>
          <p:cNvSpPr txBox="1"/>
          <p:nvPr/>
        </p:nvSpPr>
        <p:spPr>
          <a:xfrm>
            <a:off x="6812280" y="2304288"/>
            <a:ext cx="4389120" cy="36576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Dozens of beds</a:t>
            </a:r>
            <a:endParaRPr lang="en-US" sz="2200" dirty="0"/>
          </a:p>
        </p:txBody>
      </p:sp>
      <p:sp>
        <p:nvSpPr>
          <p:cNvPr id="12" name="Text 10"/>
          <p:cNvSpPr txBox="1"/>
          <p:nvPr/>
        </p:nvSpPr>
        <p:spPr>
          <a:xfrm>
            <a:off x="6812280" y="2743200"/>
            <a:ext cx="4389120" cy="1097280"/>
          </a:xfrm>
          <a:prstGeom prst="rect">
            <a:avLst/>
          </a:prstGeom>
          <a:noFill/>
          <a:ln/>
        </p:spPr>
        <p:txBody>
          <a:bodyPr wrap="square" lIns="0" tIns="0" rIns="0" bIns="0" rtlCol="0" anchor="t"/>
          <a:lstStyle/>
          <a:p>
            <a:pPr indent="0" marL="0">
              <a:lnSpc>
                <a:spcPts val="1900"/>
              </a:lnSpc>
              <a:buNone/>
            </a:pPr>
            <a:r>
              <a:rPr lang="en-US" sz="1300" dirty="0">
                <a:solidFill>
                  <a:srgbClr val="D6E3D7"/>
                </a:solidFill>
                <a:latin typeface="Calibri" pitchFamily="34" charset="0"/>
                <a:ea typeface="Calibri" pitchFamily="34" charset="-122"/>
                <a:cs typeface="Calibri" pitchFamily="34" charset="-120"/>
              </a:rPr>
              <a:t>Battery-powered nodes out in the garden posting readings to the same ingest endpoint — indistinguishable downstream from a local sensor.</a:t>
            </a:r>
            <a:endParaRPr lang="en-US" sz="1300" dirty="0"/>
          </a:p>
        </p:txBody>
      </p:sp>
      <p:sp>
        <p:nvSpPr>
          <p:cNvPr id="13" name="Text 11"/>
          <p:cNvSpPr txBox="1"/>
          <p:nvPr/>
        </p:nvSpPr>
        <p:spPr>
          <a:xfrm>
            <a:off x="640080" y="4434840"/>
            <a:ext cx="3429000" cy="566928"/>
          </a:xfrm>
          <a:prstGeom prst="rect">
            <a:avLst/>
          </a:prstGeom>
          <a:noFill/>
          <a:ln/>
        </p:spPr>
        <p:txBody>
          <a:bodyPr wrap="square" lIns="0" tIns="0" rIns="0" bIns="0" rtlCol="0" anchor="t"/>
          <a:lstStyle/>
          <a:p>
            <a:pPr indent="0" marL="0">
              <a:lnSpc>
                <a:spcPts val="1900"/>
              </a:lnSpc>
              <a:buNone/>
            </a:pPr>
            <a:r>
              <a:rPr lang="en-US" sz="1450" b="1" dirty="0">
                <a:solidFill>
                  <a:srgbClr val="2C5F2D"/>
                </a:solidFill>
                <a:latin typeface="Calibri" pitchFamily="34" charset="0"/>
                <a:ea typeface="Calibri" pitchFamily="34" charset="-122"/>
                <a:cs typeface="Calibri" pitchFamily="34" charset="-120"/>
              </a:rPr>
              <a:t>Measurements are channels, not columns</a:t>
            </a:r>
            <a:endParaRPr lang="en-US" sz="1450" dirty="0"/>
          </a:p>
        </p:txBody>
      </p:sp>
      <p:sp>
        <p:nvSpPr>
          <p:cNvPr id="14" name="Text 12"/>
          <p:cNvSpPr txBox="1"/>
          <p:nvPr/>
        </p:nvSpPr>
        <p:spPr>
          <a:xfrm>
            <a:off x="640080" y="5047488"/>
            <a:ext cx="3429000" cy="1005840"/>
          </a:xfrm>
          <a:prstGeom prst="rect">
            <a:avLst/>
          </a:prstGeom>
          <a:noFill/>
          <a:ln/>
        </p:spPr>
        <p:txBody>
          <a:bodyPr wrap="square" lIns="0" tIns="0" rIns="0" bIns="0" rtlCol="0" anchor="t"/>
          <a:lstStyle/>
          <a:p>
            <a:pPr indent="0" marL="0">
              <a:lnSpc>
                <a:spcPts val="1800"/>
              </a:lnSpc>
              <a:buNone/>
            </a:pPr>
            <a:r>
              <a:rPr lang="en-US" sz="1250" dirty="0">
                <a:solidFill>
                  <a:srgbClr val="56635A"/>
                </a:solidFill>
                <a:latin typeface="Calibri" pitchFamily="34" charset="0"/>
                <a:ea typeface="Calibri" pitchFamily="34" charset="-122"/>
                <a:cs typeface="Calibri" pitchFamily="34" charset="-120"/>
              </a:rPr>
              <a:t>Adding a sensor type is one driver file and one config line. Storage, API and interface change not at all.</a:t>
            </a:r>
            <a:endParaRPr lang="en-US" sz="1250" dirty="0"/>
          </a:p>
        </p:txBody>
      </p:sp>
      <p:sp>
        <p:nvSpPr>
          <p:cNvPr id="15" name="Text 13"/>
          <p:cNvSpPr txBox="1"/>
          <p:nvPr/>
        </p:nvSpPr>
        <p:spPr>
          <a:xfrm>
            <a:off x="4361688" y="4434840"/>
            <a:ext cx="3429000" cy="566928"/>
          </a:xfrm>
          <a:prstGeom prst="rect">
            <a:avLst/>
          </a:prstGeom>
          <a:noFill/>
          <a:ln/>
        </p:spPr>
        <p:txBody>
          <a:bodyPr wrap="square" lIns="0" tIns="0" rIns="0" bIns="0" rtlCol="0" anchor="t"/>
          <a:lstStyle/>
          <a:p>
            <a:pPr indent="0" marL="0">
              <a:lnSpc>
                <a:spcPts val="1900"/>
              </a:lnSpc>
              <a:buNone/>
            </a:pPr>
            <a:r>
              <a:rPr lang="en-US" sz="1450" b="1" dirty="0">
                <a:solidFill>
                  <a:srgbClr val="2C5F2D"/>
                </a:solidFill>
                <a:latin typeface="Calibri" pitchFamily="34" charset="0"/>
                <a:ea typeface="Calibri" pitchFamily="34" charset="-122"/>
                <a:cs typeface="Calibri" pitchFamily="34" charset="-120"/>
              </a:rPr>
              <a:t>Rules bind to roles, not to devices</a:t>
            </a:r>
            <a:endParaRPr lang="en-US" sz="1450" dirty="0"/>
          </a:p>
        </p:txBody>
      </p:sp>
      <p:sp>
        <p:nvSpPr>
          <p:cNvPr id="16" name="Text 14"/>
          <p:cNvSpPr txBox="1"/>
          <p:nvPr/>
        </p:nvSpPr>
        <p:spPr>
          <a:xfrm>
            <a:off x="4361688" y="5047488"/>
            <a:ext cx="3429000" cy="1005840"/>
          </a:xfrm>
          <a:prstGeom prst="rect">
            <a:avLst/>
          </a:prstGeom>
          <a:noFill/>
          <a:ln/>
        </p:spPr>
        <p:txBody>
          <a:bodyPr wrap="square" lIns="0" tIns="0" rIns="0" bIns="0" rtlCol="0" anchor="t"/>
          <a:lstStyle/>
          <a:p>
            <a:pPr indent="0" marL="0">
              <a:lnSpc>
                <a:spcPts val="1800"/>
              </a:lnSpc>
              <a:buNone/>
            </a:pPr>
            <a:r>
              <a:rPr lang="en-US" sz="1250" dirty="0">
                <a:solidFill>
                  <a:srgbClr val="56635A"/>
                </a:solidFill>
                <a:latin typeface="Calibri" pitchFamily="34" charset="0"/>
                <a:ea typeface="Calibri" pitchFamily="34" charset="-122"/>
                <a:cs typeface="Calibri" pitchFamily="34" charset="-120"/>
              </a:rPr>
              <a:t>A rule targets "soil moisture in zone 2". Swap the sensor or move it to another multiplexer channel and every rule still holds.</a:t>
            </a:r>
            <a:endParaRPr lang="en-US" sz="1250" dirty="0"/>
          </a:p>
        </p:txBody>
      </p:sp>
      <p:sp>
        <p:nvSpPr>
          <p:cNvPr id="17" name="Text 15"/>
          <p:cNvSpPr txBox="1"/>
          <p:nvPr/>
        </p:nvSpPr>
        <p:spPr>
          <a:xfrm>
            <a:off x="8083296" y="4434840"/>
            <a:ext cx="3429000" cy="566928"/>
          </a:xfrm>
          <a:prstGeom prst="rect">
            <a:avLst/>
          </a:prstGeom>
          <a:noFill/>
          <a:ln/>
        </p:spPr>
        <p:txBody>
          <a:bodyPr wrap="square" lIns="0" tIns="0" rIns="0" bIns="0" rtlCol="0" anchor="t"/>
          <a:lstStyle/>
          <a:p>
            <a:pPr indent="0" marL="0">
              <a:lnSpc>
                <a:spcPts val="1900"/>
              </a:lnSpc>
              <a:buNone/>
            </a:pPr>
            <a:r>
              <a:rPr lang="en-US" sz="1450" b="1" dirty="0">
                <a:solidFill>
                  <a:srgbClr val="2C5F2D"/>
                </a:solidFill>
                <a:latin typeface="Calibri" pitchFamily="34" charset="0"/>
                <a:ea typeface="Calibri" pitchFamily="34" charset="-122"/>
                <a:cs typeface="Calibri" pitchFamily="34" charset="-120"/>
              </a:rPr>
              <a:t>Remote nodes are already first-class</a:t>
            </a:r>
            <a:endParaRPr lang="en-US" sz="1450" dirty="0"/>
          </a:p>
        </p:txBody>
      </p:sp>
      <p:sp>
        <p:nvSpPr>
          <p:cNvPr id="18" name="Text 16"/>
          <p:cNvSpPr txBox="1"/>
          <p:nvPr/>
        </p:nvSpPr>
        <p:spPr>
          <a:xfrm>
            <a:off x="8083296" y="5047488"/>
            <a:ext cx="3429000" cy="1005840"/>
          </a:xfrm>
          <a:prstGeom prst="rect">
            <a:avLst/>
          </a:prstGeom>
          <a:noFill/>
          <a:ln/>
        </p:spPr>
        <p:txBody>
          <a:bodyPr wrap="square" lIns="0" tIns="0" rIns="0" bIns="0" rtlCol="0" anchor="t"/>
          <a:lstStyle/>
          <a:p>
            <a:pPr indent="0" marL="0">
              <a:lnSpc>
                <a:spcPts val="1800"/>
              </a:lnSpc>
              <a:buNone/>
            </a:pPr>
            <a:r>
              <a:rPr lang="en-US" sz="1250" dirty="0">
                <a:solidFill>
                  <a:srgbClr val="56635A"/>
                </a:solidFill>
                <a:latin typeface="Calibri" pitchFamily="34" charset="0"/>
                <a:ea typeface="Calibri" pitchFamily="34" charset="-122"/>
                <a:cs typeface="Calibri" pitchFamily="34" charset="-120"/>
              </a:rPr>
              <a:t>The ingest API and per-node staleness tracking ship in Phase 1; only the hardware is outstanding.</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WHAT COMES NEXT</a:t>
            </a:r>
            <a:endParaRPr lang="en-US" sz="1100" dirty="0"/>
          </a:p>
        </p:txBody>
      </p:sp>
      <p:sp>
        <p:nvSpPr>
          <p:cNvPr id="3" name="Text 1"/>
          <p:cNvSpPr txBox="1"/>
          <p:nvPr/>
        </p:nvSpPr>
        <p:spPr>
          <a:xfrm>
            <a:off x="640080" y="658368"/>
            <a:ext cx="10881360" cy="685800"/>
          </a:xfrm>
          <a:prstGeom prst="rect">
            <a:avLst/>
          </a:prstGeom>
          <a:noFill/>
          <a:ln/>
        </p:spPr>
        <p:txBody>
          <a:bodyPr wrap="square" lIns="0" tIns="0" rIns="0" bIns="0" rtlCol="0" anchor="t"/>
          <a:lstStyle/>
          <a:p>
            <a:pPr indent="0" marL="0">
              <a:buNone/>
            </a:pPr>
            <a:r>
              <a:rPr lang="en-US" sz="3400" b="1" dirty="0">
                <a:solidFill>
                  <a:srgbClr val="1F2A20"/>
                </a:solidFill>
                <a:latin typeface="Cambria" pitchFamily="34" charset="0"/>
                <a:ea typeface="Cambria" pitchFamily="34" charset="-122"/>
                <a:cs typeface="Cambria" pitchFamily="34" charset="-120"/>
              </a:rPr>
              <a:t>Each phase earns the next one's data</a:t>
            </a:r>
            <a:endParaRPr lang="en-US" sz="3400" dirty="0"/>
          </a:p>
        </p:txBody>
      </p:sp>
      <p:sp>
        <p:nvSpPr>
          <p:cNvPr id="4" name="Shape 2"/>
          <p:cNvSpPr/>
          <p:nvPr/>
        </p:nvSpPr>
        <p:spPr>
          <a:xfrm>
            <a:off x="640080" y="1737360"/>
            <a:ext cx="3429000" cy="3429000"/>
          </a:xfrm>
          <a:prstGeom prst="roundRect">
            <a:avLst>
              <a:gd name="adj" fmla="val 2400"/>
            </a:avLst>
          </a:prstGeom>
          <a:solidFill>
            <a:srgbClr val="EFF4ED"/>
          </a:solidFill>
          <a:ln w="12700">
            <a:solidFill>
              <a:srgbClr val="EFF4ED"/>
            </a:solidFill>
            <a:prstDash val="solid"/>
          </a:ln>
          <a:effectLst>
            <a:outerShdw sx="100000" sy="100000" kx="0" ky="0" algn="bl" rotWithShape="0" blurRad="127000" dist="25400" dir="5400000">
              <a:srgbClr val="9BAA9D">
                <a:alpha val="28000"/>
              </a:srgbClr>
            </a:outerShdw>
          </a:effectLst>
        </p:spPr>
      </p:sp>
      <p:sp>
        <p:nvSpPr>
          <p:cNvPr id="5" name="Shape 3"/>
          <p:cNvSpPr/>
          <p:nvPr/>
        </p:nvSpPr>
        <p:spPr>
          <a:xfrm>
            <a:off x="914400" y="1993392"/>
            <a:ext cx="1051560" cy="292608"/>
          </a:xfrm>
          <a:prstGeom prst="roundRect">
            <a:avLst>
              <a:gd name="adj" fmla="val 15625"/>
            </a:avLst>
          </a:prstGeom>
          <a:solidFill>
            <a:srgbClr val="2C5F2D"/>
          </a:solidFill>
          <a:ln w="12700">
            <a:solidFill>
              <a:srgbClr val="2C5F2D"/>
            </a:solidFill>
            <a:prstDash val="solid"/>
          </a:ln>
        </p:spPr>
      </p:sp>
      <p:sp>
        <p:nvSpPr>
          <p:cNvPr id="6" name="Text 4"/>
          <p:cNvSpPr txBox="1"/>
          <p:nvPr/>
        </p:nvSpPr>
        <p:spPr>
          <a:xfrm>
            <a:off x="914400" y="1993392"/>
            <a:ext cx="1051560"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PHASE 1</a:t>
            </a:r>
            <a:endParaRPr lang="en-US" sz="1000" dirty="0"/>
          </a:p>
        </p:txBody>
      </p:sp>
      <p:sp>
        <p:nvSpPr>
          <p:cNvPr id="7" name="Text 5"/>
          <p:cNvSpPr txBox="1"/>
          <p:nvPr/>
        </p:nvSpPr>
        <p:spPr>
          <a:xfrm>
            <a:off x="2057400" y="1993392"/>
            <a:ext cx="1737360" cy="292608"/>
          </a:xfrm>
          <a:prstGeom prst="rect">
            <a:avLst/>
          </a:prstGeom>
          <a:noFill/>
          <a:ln/>
        </p:spPr>
        <p:txBody>
          <a:bodyPr wrap="square" lIns="0" tIns="0" rIns="0" bIns="0" rtlCol="0" anchor="ctr"/>
          <a:lstStyle/>
          <a:p>
            <a:pPr indent="0" marL="0">
              <a:buNone/>
            </a:pPr>
            <a:r>
              <a:rPr lang="en-US" sz="1150" i="1" dirty="0">
                <a:solidFill>
                  <a:srgbClr val="8A968C"/>
                </a:solidFill>
                <a:latin typeface="Calibri" pitchFamily="34" charset="0"/>
                <a:ea typeface="Calibri" pitchFamily="34" charset="-122"/>
                <a:cs typeface="Calibri" pitchFamily="34" charset="-120"/>
              </a:rPr>
              <a:t>Now</a:t>
            </a:r>
            <a:endParaRPr lang="en-US" sz="1150" dirty="0"/>
          </a:p>
        </p:txBody>
      </p:sp>
      <p:sp>
        <p:nvSpPr>
          <p:cNvPr id="8" name="Text 6"/>
          <p:cNvSpPr txBox="1"/>
          <p:nvPr/>
        </p:nvSpPr>
        <p:spPr>
          <a:xfrm>
            <a:off x="914400" y="2487168"/>
            <a:ext cx="2880360" cy="2560320"/>
          </a:xfrm>
          <a:prstGeom prst="rect">
            <a:avLst/>
          </a:prstGeom>
          <a:noFill/>
          <a:ln/>
        </p:spPr>
        <p:txBody>
          <a:bodyPr wrap="square" lIns="0" tIns="0" rIns="0" bIns="0" rtlCol="0" anchor="t"/>
          <a:lstStyle/>
          <a:p>
            <a:pPr marL="342900" indent="-342900">
              <a:lnSpc>
                <a:spcPts val="1700"/>
              </a:lnSpc>
              <a:spcAft>
                <a:spcPts val="900"/>
              </a:spcAft>
              <a:buSzPct val="100000"/>
              <a:buChar char="•"/>
            </a:pPr>
            <a:r>
              <a:rPr lang="en-US" sz="1250" dirty="0">
                <a:solidFill>
                  <a:srgbClr val="56635A"/>
                </a:solidFill>
                <a:latin typeface="Calibri" pitchFamily="34" charset="0"/>
                <a:ea typeface="Calibri" pitchFamily="34" charset="-122"/>
                <a:cs typeface="Calibri" pitchFamily="34" charset="-120"/>
              </a:rPr>
              <a:t>Real sensors, simulated valves</a:t>
            </a:r>
            <a:endParaRPr lang="en-US" sz="1250" dirty="0"/>
          </a:p>
          <a:p>
            <a:pPr marL="342900" indent="-342900">
              <a:lnSpc>
                <a:spcPts val="1700"/>
              </a:lnSpc>
              <a:spcAft>
                <a:spcPts val="900"/>
              </a:spcAft>
              <a:buSzPct val="100000"/>
              <a:buChar char="•"/>
            </a:pPr>
            <a:r>
              <a:rPr lang="en-US" sz="1250" dirty="0">
                <a:solidFill>
                  <a:srgbClr val="56635A"/>
                </a:solidFill>
                <a:latin typeface="Calibri" pitchFamily="34" charset="0"/>
                <a:ea typeface="Calibri" pitchFamily="34" charset="-122"/>
                <a:cs typeface="Calibri" pitchFamily="34" charset="-120"/>
              </a:rPr>
              <a:t>Threshold watering with hysteresis</a:t>
            </a:r>
            <a:endParaRPr lang="en-US" sz="1250" dirty="0"/>
          </a:p>
          <a:p>
            <a:pPr marL="342900" indent="-342900">
              <a:lnSpc>
                <a:spcPts val="1700"/>
              </a:lnSpc>
              <a:spcAft>
                <a:spcPts val="900"/>
              </a:spcAft>
              <a:buSzPct val="100000"/>
              <a:buChar char="•"/>
            </a:pPr>
            <a:r>
              <a:rPr lang="en-US" sz="1250" dirty="0">
                <a:solidFill>
                  <a:srgbClr val="56635A"/>
                </a:solidFill>
                <a:latin typeface="Calibri" pitchFamily="34" charset="0"/>
                <a:ea typeface="Calibri" pitchFamily="34" charset="-122"/>
                <a:cs typeface="Calibri" pitchFamily="34" charset="-120"/>
              </a:rPr>
              <a:t>Lighting to a daily light integral</a:t>
            </a:r>
            <a:endParaRPr lang="en-US" sz="1250" dirty="0"/>
          </a:p>
          <a:p>
            <a:pPr marL="342900" indent="-342900">
              <a:lnSpc>
                <a:spcPts val="1700"/>
              </a:lnSpc>
              <a:spcAft>
                <a:spcPts val="900"/>
              </a:spcAft>
              <a:buSzPct val="100000"/>
              <a:buChar char="•"/>
            </a:pPr>
            <a:r>
              <a:rPr lang="en-US" sz="1250" dirty="0">
                <a:solidFill>
                  <a:srgbClr val="56635A"/>
                </a:solidFill>
                <a:latin typeface="Calibri" pitchFamily="34" charset="0"/>
                <a:ea typeface="Calibri" pitchFamily="34" charset="-122"/>
                <a:cs typeface="Calibri" pitchFamily="34" charset="-120"/>
              </a:rPr>
              <a:t>Phone dashboard and decision log</a:t>
            </a:r>
            <a:endParaRPr lang="en-US" sz="1250" dirty="0"/>
          </a:p>
          <a:p>
            <a:pPr marL="342900" indent="-342900">
              <a:lnSpc>
                <a:spcPts val="1700"/>
              </a:lnSpc>
              <a:spcAft>
                <a:spcPts val="900"/>
              </a:spcAft>
              <a:buSzPct val="100000"/>
              <a:buChar char="•"/>
            </a:pPr>
            <a:r>
              <a:rPr lang="en-US" sz="1250" dirty="0">
                <a:solidFill>
                  <a:srgbClr val="56635A"/>
                </a:solidFill>
                <a:latin typeface="Calibri" pitchFamily="34" charset="0"/>
                <a:ea typeface="Calibri" pitchFamily="34" charset="-122"/>
                <a:cs typeface="Calibri" pitchFamily="34" charset="-120"/>
              </a:rPr>
              <a:t>Three-layer safety and alerting</a:t>
            </a:r>
            <a:endParaRPr lang="en-US" sz="1250" dirty="0"/>
          </a:p>
        </p:txBody>
      </p:sp>
      <p:sp>
        <p:nvSpPr>
          <p:cNvPr id="9" name="Shape 7"/>
          <p:cNvSpPr/>
          <p:nvPr/>
        </p:nvSpPr>
        <p:spPr>
          <a:xfrm>
            <a:off x="4361688" y="1737360"/>
            <a:ext cx="3429000" cy="3429000"/>
          </a:xfrm>
          <a:prstGeom prst="roundRect">
            <a:avLst>
              <a:gd name="adj" fmla="val 2400"/>
            </a:avLst>
          </a:prstGeom>
          <a:solidFill>
            <a:srgbClr val="FFFFFF"/>
          </a:solidFill>
          <a:ln w="12700">
            <a:solidFill>
              <a:srgbClr val="D5DFD3"/>
            </a:solidFill>
            <a:prstDash val="solid"/>
          </a:ln>
          <a:effectLst>
            <a:outerShdw sx="100000" sy="100000" kx="0" ky="0" algn="bl" rotWithShape="0" blurRad="127000" dist="25400" dir="5400000">
              <a:srgbClr val="9BAA9D">
                <a:alpha val="28000"/>
              </a:srgbClr>
            </a:outerShdw>
          </a:effectLst>
        </p:spPr>
      </p:sp>
      <p:sp>
        <p:nvSpPr>
          <p:cNvPr id="10" name="Shape 8"/>
          <p:cNvSpPr/>
          <p:nvPr/>
        </p:nvSpPr>
        <p:spPr>
          <a:xfrm>
            <a:off x="4636008" y="1993392"/>
            <a:ext cx="1051560" cy="292608"/>
          </a:xfrm>
          <a:prstGeom prst="roundRect">
            <a:avLst>
              <a:gd name="adj" fmla="val 15625"/>
            </a:avLst>
          </a:prstGeom>
          <a:solidFill>
            <a:srgbClr val="C9752B"/>
          </a:solidFill>
          <a:ln w="12700">
            <a:solidFill>
              <a:srgbClr val="C9752B"/>
            </a:solidFill>
            <a:prstDash val="solid"/>
          </a:ln>
        </p:spPr>
      </p:sp>
      <p:sp>
        <p:nvSpPr>
          <p:cNvPr id="11" name="Text 9"/>
          <p:cNvSpPr txBox="1"/>
          <p:nvPr/>
        </p:nvSpPr>
        <p:spPr>
          <a:xfrm>
            <a:off x="4636008" y="1993392"/>
            <a:ext cx="1051560"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PHASE 2</a:t>
            </a:r>
            <a:endParaRPr lang="en-US" sz="1000" dirty="0"/>
          </a:p>
        </p:txBody>
      </p:sp>
      <p:sp>
        <p:nvSpPr>
          <p:cNvPr id="12" name="Text 10"/>
          <p:cNvSpPr txBox="1"/>
          <p:nvPr/>
        </p:nvSpPr>
        <p:spPr>
          <a:xfrm>
            <a:off x="5779008" y="1993392"/>
            <a:ext cx="1737360" cy="292608"/>
          </a:xfrm>
          <a:prstGeom prst="rect">
            <a:avLst/>
          </a:prstGeom>
          <a:noFill/>
          <a:ln/>
        </p:spPr>
        <p:txBody>
          <a:bodyPr wrap="square" lIns="0" tIns="0" rIns="0" bIns="0" rtlCol="0" anchor="ctr"/>
          <a:lstStyle/>
          <a:p>
            <a:pPr indent="0" marL="0">
              <a:buNone/>
            </a:pPr>
            <a:r>
              <a:rPr lang="en-US" sz="1150" i="1" dirty="0">
                <a:solidFill>
                  <a:srgbClr val="8A968C"/>
                </a:solidFill>
                <a:latin typeface="Calibri" pitchFamily="34" charset="0"/>
                <a:ea typeface="Calibri" pitchFamily="34" charset="-122"/>
                <a:cs typeface="Calibri" pitchFamily="34" charset="-120"/>
              </a:rPr>
              <a:t>Once data exists</a:t>
            </a:r>
            <a:endParaRPr lang="en-US" sz="1150" dirty="0"/>
          </a:p>
        </p:txBody>
      </p:sp>
      <p:sp>
        <p:nvSpPr>
          <p:cNvPr id="13" name="Text 11"/>
          <p:cNvSpPr txBox="1"/>
          <p:nvPr/>
        </p:nvSpPr>
        <p:spPr>
          <a:xfrm>
            <a:off x="4636008" y="2487168"/>
            <a:ext cx="2880360" cy="2560320"/>
          </a:xfrm>
          <a:prstGeom prst="rect">
            <a:avLst/>
          </a:prstGeom>
          <a:noFill/>
          <a:ln/>
        </p:spPr>
        <p:txBody>
          <a:bodyPr wrap="square" lIns="0" tIns="0" rIns="0" bIns="0" rtlCol="0" anchor="t"/>
          <a:lstStyle/>
          <a:p>
            <a:pPr marL="342900" indent="-342900">
              <a:lnSpc>
                <a:spcPts val="1700"/>
              </a:lnSpc>
              <a:spcAft>
                <a:spcPts val="900"/>
              </a:spcAft>
              <a:buSzPct val="100000"/>
              <a:buChar char="•"/>
            </a:pPr>
            <a:r>
              <a:rPr lang="en-US" sz="1250" dirty="0">
                <a:solidFill>
                  <a:srgbClr val="56635A"/>
                </a:solidFill>
                <a:latin typeface="Calibri" pitchFamily="34" charset="0"/>
                <a:ea typeface="Calibri" pitchFamily="34" charset="-122"/>
                <a:cs typeface="Calibri" pitchFamily="34" charset="-120"/>
              </a:rPr>
              <a:t>Forecasting how fast soil dries — time-to-stress rather than a straight line</a:t>
            </a:r>
            <a:endParaRPr lang="en-US" sz="1250" dirty="0"/>
          </a:p>
          <a:p>
            <a:pPr marL="342900" indent="-342900">
              <a:lnSpc>
                <a:spcPts val="1700"/>
              </a:lnSpc>
              <a:spcAft>
                <a:spcPts val="900"/>
              </a:spcAft>
              <a:buSzPct val="100000"/>
              <a:buChar char="•"/>
            </a:pPr>
            <a:r>
              <a:rPr lang="en-US" sz="1250" dirty="0">
                <a:solidFill>
                  <a:srgbClr val="56635A"/>
                </a:solidFill>
                <a:latin typeface="Calibri" pitchFamily="34" charset="0"/>
                <a:ea typeface="Calibri" pitchFamily="34" charset="-122"/>
                <a:cs typeface="Calibri" pitchFamily="34" charset="-120"/>
              </a:rPr>
              <a:t>Dose calculated from a learned absorption model, not a fixed pulse</a:t>
            </a:r>
            <a:endParaRPr lang="en-US" sz="1250" dirty="0"/>
          </a:p>
          <a:p>
            <a:pPr marL="342900" indent="-342900">
              <a:lnSpc>
                <a:spcPts val="1700"/>
              </a:lnSpc>
              <a:spcAft>
                <a:spcPts val="900"/>
              </a:spcAft>
              <a:buSzPct val="100000"/>
              <a:buChar char="•"/>
            </a:pPr>
            <a:r>
              <a:rPr lang="en-US" sz="1250" dirty="0">
                <a:solidFill>
                  <a:srgbClr val="56635A"/>
                </a:solidFill>
                <a:latin typeface="Calibri" pitchFamily="34" charset="0"/>
                <a:ea typeface="Calibri" pitchFamily="34" charset="-122"/>
                <a:cs typeface="Calibri" pitchFamily="34" charset="-120"/>
              </a:rPr>
              <a:t>Wireless nodes in outdoor beds</a:t>
            </a:r>
            <a:endParaRPr lang="en-US" sz="1250" dirty="0"/>
          </a:p>
          <a:p>
            <a:pPr marL="342900" indent="-342900">
              <a:lnSpc>
                <a:spcPts val="1700"/>
              </a:lnSpc>
              <a:spcAft>
                <a:spcPts val="900"/>
              </a:spcAft>
              <a:buSzPct val="100000"/>
              <a:buChar char="•"/>
            </a:pPr>
            <a:r>
              <a:rPr lang="en-US" sz="1250" dirty="0">
                <a:solidFill>
                  <a:srgbClr val="56635A"/>
                </a:solidFill>
                <a:latin typeface="Calibri" pitchFamily="34" charset="0"/>
                <a:ea typeface="Calibri" pitchFamily="34" charset="-122"/>
                <a:cs typeface="Calibri" pitchFamily="34" charset="-120"/>
              </a:rPr>
              <a:t>Weather forecast as another input</a:t>
            </a:r>
            <a:endParaRPr lang="en-US" sz="1250" dirty="0"/>
          </a:p>
        </p:txBody>
      </p:sp>
      <p:sp>
        <p:nvSpPr>
          <p:cNvPr id="14" name="Shape 12"/>
          <p:cNvSpPr/>
          <p:nvPr/>
        </p:nvSpPr>
        <p:spPr>
          <a:xfrm>
            <a:off x="8083296" y="1737360"/>
            <a:ext cx="3429000" cy="3429000"/>
          </a:xfrm>
          <a:prstGeom prst="roundRect">
            <a:avLst>
              <a:gd name="adj" fmla="val 2400"/>
            </a:avLst>
          </a:prstGeom>
          <a:solidFill>
            <a:srgbClr val="FFFFFF"/>
          </a:solidFill>
          <a:ln w="12700">
            <a:solidFill>
              <a:srgbClr val="D5DFD3"/>
            </a:solidFill>
            <a:prstDash val="solid"/>
          </a:ln>
          <a:effectLst>
            <a:outerShdw sx="100000" sy="100000" kx="0" ky="0" algn="bl" rotWithShape="0" blurRad="127000" dist="25400" dir="5400000">
              <a:srgbClr val="9BAA9D">
                <a:alpha val="28000"/>
              </a:srgbClr>
            </a:outerShdw>
          </a:effectLst>
        </p:spPr>
      </p:sp>
      <p:sp>
        <p:nvSpPr>
          <p:cNvPr id="15" name="Shape 13"/>
          <p:cNvSpPr/>
          <p:nvPr/>
        </p:nvSpPr>
        <p:spPr>
          <a:xfrm>
            <a:off x="8357616" y="1993392"/>
            <a:ext cx="1051560" cy="292608"/>
          </a:xfrm>
          <a:prstGeom prst="roundRect">
            <a:avLst>
              <a:gd name="adj" fmla="val 15625"/>
            </a:avLst>
          </a:prstGeom>
          <a:solidFill>
            <a:srgbClr val="4A6B7C"/>
          </a:solidFill>
          <a:ln w="12700">
            <a:solidFill>
              <a:srgbClr val="4A6B7C"/>
            </a:solidFill>
            <a:prstDash val="solid"/>
          </a:ln>
        </p:spPr>
      </p:sp>
      <p:sp>
        <p:nvSpPr>
          <p:cNvPr id="16" name="Text 14"/>
          <p:cNvSpPr txBox="1"/>
          <p:nvPr/>
        </p:nvSpPr>
        <p:spPr>
          <a:xfrm>
            <a:off x="8357616" y="1993392"/>
            <a:ext cx="1051560"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PHASE 3</a:t>
            </a:r>
            <a:endParaRPr lang="en-US" sz="1000" dirty="0"/>
          </a:p>
        </p:txBody>
      </p:sp>
      <p:sp>
        <p:nvSpPr>
          <p:cNvPr id="17" name="Text 15"/>
          <p:cNvSpPr txBox="1"/>
          <p:nvPr/>
        </p:nvSpPr>
        <p:spPr>
          <a:xfrm>
            <a:off x="9500616" y="1993392"/>
            <a:ext cx="1737360" cy="292608"/>
          </a:xfrm>
          <a:prstGeom prst="rect">
            <a:avLst/>
          </a:prstGeom>
          <a:noFill/>
          <a:ln/>
        </p:spPr>
        <p:txBody>
          <a:bodyPr wrap="square" lIns="0" tIns="0" rIns="0" bIns="0" rtlCol="0" anchor="ctr"/>
          <a:lstStyle/>
          <a:p>
            <a:pPr indent="0" marL="0">
              <a:buNone/>
            </a:pPr>
            <a:r>
              <a:rPr lang="en-US" sz="1150" i="1" dirty="0">
                <a:solidFill>
                  <a:srgbClr val="8A968C"/>
                </a:solidFill>
                <a:latin typeface="Calibri" pitchFamily="34" charset="0"/>
                <a:ea typeface="Calibri" pitchFamily="34" charset="-122"/>
                <a:cs typeface="Calibri" pitchFamily="34" charset="-120"/>
              </a:rPr>
              <a:t>Later</a:t>
            </a:r>
            <a:endParaRPr lang="en-US" sz="1150" dirty="0"/>
          </a:p>
        </p:txBody>
      </p:sp>
      <p:sp>
        <p:nvSpPr>
          <p:cNvPr id="18" name="Text 16"/>
          <p:cNvSpPr txBox="1"/>
          <p:nvPr/>
        </p:nvSpPr>
        <p:spPr>
          <a:xfrm>
            <a:off x="8357616" y="2487168"/>
            <a:ext cx="2880360" cy="2560320"/>
          </a:xfrm>
          <a:prstGeom prst="rect">
            <a:avLst/>
          </a:prstGeom>
          <a:noFill/>
          <a:ln/>
        </p:spPr>
        <p:txBody>
          <a:bodyPr wrap="square" lIns="0" tIns="0" rIns="0" bIns="0" rtlCol="0" anchor="t"/>
          <a:lstStyle/>
          <a:p>
            <a:pPr marL="342900" indent="-342900">
              <a:lnSpc>
                <a:spcPts val="1700"/>
              </a:lnSpc>
              <a:spcAft>
                <a:spcPts val="900"/>
              </a:spcAft>
              <a:buSzPct val="100000"/>
              <a:buChar char="•"/>
            </a:pPr>
            <a:r>
              <a:rPr lang="en-US" sz="1250" dirty="0">
                <a:solidFill>
                  <a:srgbClr val="56635A"/>
                </a:solidFill>
                <a:latin typeface="Calibri" pitchFamily="34" charset="0"/>
                <a:ea typeface="Calibri" pitchFamily="34" charset="-122"/>
                <a:cs typeface="Calibri" pitchFamily="34" charset="-120"/>
              </a:rPr>
              <a:t>Native mobile app on the same JSON API</a:t>
            </a:r>
            <a:endParaRPr lang="en-US" sz="1250" dirty="0"/>
          </a:p>
          <a:p>
            <a:pPr marL="342900" indent="-342900">
              <a:lnSpc>
                <a:spcPts val="1700"/>
              </a:lnSpc>
              <a:spcAft>
                <a:spcPts val="900"/>
              </a:spcAft>
              <a:buSzPct val="100000"/>
              <a:buChar char="•"/>
            </a:pPr>
            <a:r>
              <a:rPr lang="en-US" sz="1250" dirty="0">
                <a:solidFill>
                  <a:srgbClr val="56635A"/>
                </a:solidFill>
                <a:latin typeface="Calibri" pitchFamily="34" charset="0"/>
                <a:ea typeface="Calibri" pitchFamily="34" charset="-122"/>
                <a:cs typeface="Calibri" pitchFamily="34" charset="-120"/>
              </a:rPr>
              <a:t>Plant imagery and visual health tracking</a:t>
            </a:r>
            <a:endParaRPr lang="en-US" sz="1250" dirty="0"/>
          </a:p>
          <a:p>
            <a:pPr marL="342900" indent="-342900">
              <a:lnSpc>
                <a:spcPts val="1700"/>
              </a:lnSpc>
              <a:spcAft>
                <a:spcPts val="900"/>
              </a:spcAft>
              <a:buSzPct val="100000"/>
              <a:buChar char="•"/>
            </a:pPr>
            <a:r>
              <a:rPr lang="en-US" sz="1250" dirty="0">
                <a:solidFill>
                  <a:srgbClr val="56635A"/>
                </a:solidFill>
                <a:latin typeface="Calibri" pitchFamily="34" charset="0"/>
                <a:ea typeface="Calibri" pitchFamily="34" charset="-122"/>
                <a:cs typeface="Calibri" pitchFamily="34" charset="-120"/>
              </a:rPr>
              <a:t>Season-over-season comparison</a:t>
            </a:r>
            <a:endParaRPr lang="en-US" sz="1250" dirty="0"/>
          </a:p>
          <a:p>
            <a:pPr marL="342900" indent="-342900">
              <a:lnSpc>
                <a:spcPts val="1700"/>
              </a:lnSpc>
              <a:spcAft>
                <a:spcPts val="900"/>
              </a:spcAft>
              <a:buSzPct val="100000"/>
              <a:buChar char="•"/>
            </a:pPr>
            <a:r>
              <a:rPr lang="en-US" sz="1250" dirty="0">
                <a:solidFill>
                  <a:srgbClr val="56635A"/>
                </a:solidFill>
                <a:latin typeface="Calibri" pitchFamily="34" charset="0"/>
                <a:ea typeface="Calibri" pitchFamily="34" charset="-122"/>
                <a:cs typeface="Calibri" pitchFamily="34" charset="-120"/>
              </a:rPr>
              <a:t>Multi-garden / multi-site</a:t>
            </a:r>
            <a:endParaRPr lang="en-US" sz="1250" dirty="0"/>
          </a:p>
        </p:txBody>
      </p:sp>
      <p:sp>
        <p:nvSpPr>
          <p:cNvPr id="19" name="Text 17"/>
          <p:cNvSpPr txBox="1"/>
          <p:nvPr/>
        </p:nvSpPr>
        <p:spPr>
          <a:xfrm>
            <a:off x="640080" y="5440680"/>
            <a:ext cx="10881360" cy="548640"/>
          </a:xfrm>
          <a:prstGeom prst="rect">
            <a:avLst/>
          </a:prstGeom>
          <a:noFill/>
          <a:ln/>
        </p:spPr>
        <p:txBody>
          <a:bodyPr wrap="square" lIns="0" tIns="0" rIns="0" bIns="0" rtlCol="0" anchor="t"/>
          <a:lstStyle/>
          <a:p>
            <a:pPr indent="0" marL="0">
              <a:lnSpc>
                <a:spcPts val="1600"/>
              </a:lnSpc>
              <a:buNone/>
            </a:pPr>
            <a:r>
              <a:rPr lang="en-US" sz="1200" i="1" dirty="0">
                <a:solidFill>
                  <a:srgbClr val="8A968C"/>
                </a:solidFill>
                <a:latin typeface="Calibri" pitchFamily="34" charset="0"/>
                <a:ea typeface="Calibri" pitchFamily="34" charset="-122"/>
                <a:cs typeface="Calibri" pitchFamily="34" charset="-120"/>
              </a:rPr>
              <a:t>No model is fitted until several weeks of varied data exist. Phase 1 is built so that data comes out in the right shape — vapour pressure deficit stored on every tick, and every watering recorded with its before and after state.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301A"/>
        </a:solidFill>
      </p:bgPr>
    </p:bg>
    <p:spTree>
      <p:nvGrpSpPr>
        <p:cNvPr id="1" name=""/>
        <p:cNvGrpSpPr/>
        <p:nvPr/>
      </p:nvGrpSpPr>
      <p:grpSpPr>
        <a:xfrm>
          <a:off x="0" y="0"/>
          <a:ext cx="0" cy="0"/>
          <a:chOff x="0" y="0"/>
          <a:chExt cx="0" cy="0"/>
        </a:xfrm>
      </p:grpSpPr>
      <p:sp>
        <p:nvSpPr>
          <p:cNvPr id="2" name="Shape 0"/>
          <p:cNvSpPr/>
          <p:nvPr/>
        </p:nvSpPr>
        <p:spPr>
          <a:xfrm>
            <a:off x="9418320" y="-1280160"/>
            <a:ext cx="4937760" cy="4937760"/>
          </a:xfrm>
          <a:prstGeom prst="ellipse">
            <a:avLst/>
          </a:prstGeom>
          <a:solidFill>
            <a:srgbClr val="1E3D22"/>
          </a:solidFill>
          <a:ln w="12700">
            <a:solidFill>
              <a:srgbClr val="1E3D22"/>
            </a:solidFill>
            <a:prstDash val="solid"/>
          </a:ln>
        </p:spPr>
      </p:sp>
      <p:sp>
        <p:nvSpPr>
          <p:cNvPr id="3" name="Text 1"/>
          <p:cNvSpPr txBox="1"/>
          <p:nvPr/>
        </p:nvSpPr>
        <p:spPr>
          <a:xfrm>
            <a:off x="822960" y="777240"/>
            <a:ext cx="8229600" cy="274320"/>
          </a:xfrm>
          <a:prstGeom prst="rect">
            <a:avLst/>
          </a:prstGeom>
          <a:noFill/>
          <a:ln/>
        </p:spPr>
        <p:txBody>
          <a:bodyPr wrap="square" lIns="0" tIns="0" rIns="0" bIns="0" rtlCol="0" anchor="ctr"/>
          <a:lstStyle/>
          <a:p>
            <a:pPr indent="0" marL="0">
              <a:buNone/>
            </a:pPr>
            <a:r>
              <a:rPr lang="en-US" sz="1100" b="1" spc="200" kern="0" dirty="0">
                <a:solidFill>
                  <a:srgbClr val="97BC62"/>
                </a:solidFill>
                <a:latin typeface="Calibri" pitchFamily="34" charset="0"/>
                <a:ea typeface="Calibri" pitchFamily="34" charset="-122"/>
                <a:cs typeface="Calibri" pitchFamily="34" charset="-120"/>
              </a:rPr>
              <a:t>WHERE IT STANDS</a:t>
            </a:r>
            <a:endParaRPr lang="en-US" sz="1100" dirty="0"/>
          </a:p>
        </p:txBody>
      </p:sp>
      <p:sp>
        <p:nvSpPr>
          <p:cNvPr id="4" name="Text 2"/>
          <p:cNvSpPr txBox="1"/>
          <p:nvPr/>
        </p:nvSpPr>
        <p:spPr>
          <a:xfrm>
            <a:off x="822960" y="1097280"/>
            <a:ext cx="960120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Specified in full. Built in six reviewed layers.</a:t>
            </a:r>
            <a:endParaRPr lang="en-US" sz="3200" dirty="0"/>
          </a:p>
        </p:txBody>
      </p:sp>
      <p:sp>
        <p:nvSpPr>
          <p:cNvPr id="5" name="Shape 3"/>
          <p:cNvSpPr/>
          <p:nvPr/>
        </p:nvSpPr>
        <p:spPr>
          <a:xfrm>
            <a:off x="822960" y="2148840"/>
            <a:ext cx="1572768" cy="960120"/>
          </a:xfrm>
          <a:prstGeom prst="roundRect">
            <a:avLst>
              <a:gd name="adj" fmla="val 7619"/>
            </a:avLst>
          </a:prstGeom>
          <a:solidFill>
            <a:srgbClr val="213F25"/>
          </a:solidFill>
          <a:ln w="12700">
            <a:solidFill>
              <a:srgbClr val="2C5233"/>
            </a:solidFill>
            <a:prstDash val="solid"/>
          </a:ln>
        </p:spPr>
      </p:sp>
      <p:sp>
        <p:nvSpPr>
          <p:cNvPr id="6" name="Text 4"/>
          <p:cNvSpPr txBox="1"/>
          <p:nvPr/>
        </p:nvSpPr>
        <p:spPr>
          <a:xfrm>
            <a:off x="822960" y="2286000"/>
            <a:ext cx="1572768" cy="274320"/>
          </a:xfrm>
          <a:prstGeom prst="rect">
            <a:avLst/>
          </a:prstGeom>
          <a:noFill/>
          <a:ln/>
        </p:spPr>
        <p:txBody>
          <a:bodyPr wrap="square" lIns="0" tIns="0" rIns="0" bIns="0" rtlCol="0" anchor="ctr"/>
          <a:lstStyle/>
          <a:p>
            <a:pPr algn="ctr" indent="0" marL="0">
              <a:buNone/>
            </a:pPr>
            <a:r>
              <a:rPr lang="en-US" sz="1100" b="1" dirty="0">
                <a:solidFill>
                  <a:srgbClr val="97BC62"/>
                </a:solidFill>
                <a:latin typeface="Calibri" pitchFamily="34" charset="0"/>
                <a:ea typeface="Calibri" pitchFamily="34" charset="-122"/>
                <a:cs typeface="Calibri" pitchFamily="34" charset="-120"/>
              </a:rPr>
              <a:t>01</a:t>
            </a:r>
            <a:endParaRPr lang="en-US" sz="1100" dirty="0"/>
          </a:p>
        </p:txBody>
      </p:sp>
      <p:sp>
        <p:nvSpPr>
          <p:cNvPr id="7" name="Text 5"/>
          <p:cNvSpPr txBox="1"/>
          <p:nvPr/>
        </p:nvSpPr>
        <p:spPr>
          <a:xfrm>
            <a:off x="822960" y="2578608"/>
            <a:ext cx="157276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Foundation</a:t>
            </a:r>
            <a:endParaRPr lang="en-US" sz="1300" dirty="0"/>
          </a:p>
        </p:txBody>
      </p:sp>
      <p:sp>
        <p:nvSpPr>
          <p:cNvPr id="8" name="Shape 6"/>
          <p:cNvSpPr/>
          <p:nvPr/>
        </p:nvSpPr>
        <p:spPr>
          <a:xfrm>
            <a:off x="2624328" y="2148840"/>
            <a:ext cx="1572768" cy="960120"/>
          </a:xfrm>
          <a:prstGeom prst="roundRect">
            <a:avLst>
              <a:gd name="adj" fmla="val 7619"/>
            </a:avLst>
          </a:prstGeom>
          <a:solidFill>
            <a:srgbClr val="213F25"/>
          </a:solidFill>
          <a:ln w="12700">
            <a:solidFill>
              <a:srgbClr val="2C5233"/>
            </a:solidFill>
            <a:prstDash val="solid"/>
          </a:ln>
        </p:spPr>
      </p:sp>
      <p:sp>
        <p:nvSpPr>
          <p:cNvPr id="9" name="Text 7"/>
          <p:cNvSpPr txBox="1"/>
          <p:nvPr/>
        </p:nvSpPr>
        <p:spPr>
          <a:xfrm>
            <a:off x="2624328" y="2286000"/>
            <a:ext cx="1572768" cy="274320"/>
          </a:xfrm>
          <a:prstGeom prst="rect">
            <a:avLst/>
          </a:prstGeom>
          <a:noFill/>
          <a:ln/>
        </p:spPr>
        <p:txBody>
          <a:bodyPr wrap="square" lIns="0" tIns="0" rIns="0" bIns="0" rtlCol="0" anchor="ctr"/>
          <a:lstStyle/>
          <a:p>
            <a:pPr algn="ctr" indent="0" marL="0">
              <a:buNone/>
            </a:pPr>
            <a:r>
              <a:rPr lang="en-US" sz="1100" b="1" dirty="0">
                <a:solidFill>
                  <a:srgbClr val="97BC62"/>
                </a:solidFill>
                <a:latin typeface="Calibri" pitchFamily="34" charset="0"/>
                <a:ea typeface="Calibri" pitchFamily="34" charset="-122"/>
                <a:cs typeface="Calibri" pitchFamily="34" charset="-120"/>
              </a:rPr>
              <a:t>02</a:t>
            </a:r>
            <a:endParaRPr lang="en-US" sz="1100" dirty="0"/>
          </a:p>
        </p:txBody>
      </p:sp>
      <p:sp>
        <p:nvSpPr>
          <p:cNvPr id="10" name="Text 8"/>
          <p:cNvSpPr txBox="1"/>
          <p:nvPr/>
        </p:nvSpPr>
        <p:spPr>
          <a:xfrm>
            <a:off x="2624328" y="2578608"/>
            <a:ext cx="157276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Storage</a:t>
            </a:r>
            <a:endParaRPr lang="en-US" sz="1300" dirty="0"/>
          </a:p>
        </p:txBody>
      </p:sp>
      <p:sp>
        <p:nvSpPr>
          <p:cNvPr id="11" name="Shape 9"/>
          <p:cNvSpPr/>
          <p:nvPr/>
        </p:nvSpPr>
        <p:spPr>
          <a:xfrm>
            <a:off x="4425696" y="2148840"/>
            <a:ext cx="1572768" cy="960120"/>
          </a:xfrm>
          <a:prstGeom prst="roundRect">
            <a:avLst>
              <a:gd name="adj" fmla="val 7619"/>
            </a:avLst>
          </a:prstGeom>
          <a:solidFill>
            <a:srgbClr val="213F25"/>
          </a:solidFill>
          <a:ln w="12700">
            <a:solidFill>
              <a:srgbClr val="2C5233"/>
            </a:solidFill>
            <a:prstDash val="solid"/>
          </a:ln>
        </p:spPr>
      </p:sp>
      <p:sp>
        <p:nvSpPr>
          <p:cNvPr id="12" name="Text 10"/>
          <p:cNvSpPr txBox="1"/>
          <p:nvPr/>
        </p:nvSpPr>
        <p:spPr>
          <a:xfrm>
            <a:off x="4425696" y="2286000"/>
            <a:ext cx="1572768" cy="274320"/>
          </a:xfrm>
          <a:prstGeom prst="rect">
            <a:avLst/>
          </a:prstGeom>
          <a:noFill/>
          <a:ln/>
        </p:spPr>
        <p:txBody>
          <a:bodyPr wrap="square" lIns="0" tIns="0" rIns="0" bIns="0" rtlCol="0" anchor="ctr"/>
          <a:lstStyle/>
          <a:p>
            <a:pPr algn="ctr" indent="0" marL="0">
              <a:buNone/>
            </a:pPr>
            <a:r>
              <a:rPr lang="en-US" sz="1100" b="1" dirty="0">
                <a:solidFill>
                  <a:srgbClr val="97BC62"/>
                </a:solidFill>
                <a:latin typeface="Calibri" pitchFamily="34" charset="0"/>
                <a:ea typeface="Calibri" pitchFamily="34" charset="-122"/>
                <a:cs typeface="Calibri" pitchFamily="34" charset="-120"/>
              </a:rPr>
              <a:t>03</a:t>
            </a:r>
            <a:endParaRPr lang="en-US" sz="1100" dirty="0"/>
          </a:p>
        </p:txBody>
      </p:sp>
      <p:sp>
        <p:nvSpPr>
          <p:cNvPr id="13" name="Text 11"/>
          <p:cNvSpPr txBox="1"/>
          <p:nvPr/>
        </p:nvSpPr>
        <p:spPr>
          <a:xfrm>
            <a:off x="4425696" y="2578608"/>
            <a:ext cx="157276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Drivers</a:t>
            </a:r>
            <a:endParaRPr lang="en-US" sz="1300" dirty="0"/>
          </a:p>
        </p:txBody>
      </p:sp>
      <p:sp>
        <p:nvSpPr>
          <p:cNvPr id="14" name="Shape 12"/>
          <p:cNvSpPr/>
          <p:nvPr/>
        </p:nvSpPr>
        <p:spPr>
          <a:xfrm>
            <a:off x="6227064" y="2148840"/>
            <a:ext cx="1572768" cy="960120"/>
          </a:xfrm>
          <a:prstGeom prst="roundRect">
            <a:avLst>
              <a:gd name="adj" fmla="val 7619"/>
            </a:avLst>
          </a:prstGeom>
          <a:solidFill>
            <a:srgbClr val="213F25"/>
          </a:solidFill>
          <a:ln w="12700">
            <a:solidFill>
              <a:srgbClr val="2C5233"/>
            </a:solidFill>
            <a:prstDash val="solid"/>
          </a:ln>
        </p:spPr>
      </p:sp>
      <p:sp>
        <p:nvSpPr>
          <p:cNvPr id="15" name="Text 13"/>
          <p:cNvSpPr txBox="1"/>
          <p:nvPr/>
        </p:nvSpPr>
        <p:spPr>
          <a:xfrm>
            <a:off x="6227064" y="2286000"/>
            <a:ext cx="1572768" cy="274320"/>
          </a:xfrm>
          <a:prstGeom prst="rect">
            <a:avLst/>
          </a:prstGeom>
          <a:noFill/>
          <a:ln/>
        </p:spPr>
        <p:txBody>
          <a:bodyPr wrap="square" lIns="0" tIns="0" rIns="0" bIns="0" rtlCol="0" anchor="ctr"/>
          <a:lstStyle/>
          <a:p>
            <a:pPr algn="ctr" indent="0" marL="0">
              <a:buNone/>
            </a:pPr>
            <a:r>
              <a:rPr lang="en-US" sz="1100" b="1" dirty="0">
                <a:solidFill>
                  <a:srgbClr val="97BC62"/>
                </a:solidFill>
                <a:latin typeface="Calibri" pitchFamily="34" charset="0"/>
                <a:ea typeface="Calibri" pitchFamily="34" charset="-122"/>
                <a:cs typeface="Calibri" pitchFamily="34" charset="-120"/>
              </a:rPr>
              <a:t>04</a:t>
            </a:r>
            <a:endParaRPr lang="en-US" sz="1100" dirty="0"/>
          </a:p>
        </p:txBody>
      </p:sp>
      <p:sp>
        <p:nvSpPr>
          <p:cNvPr id="16" name="Text 14"/>
          <p:cNvSpPr txBox="1"/>
          <p:nvPr/>
        </p:nvSpPr>
        <p:spPr>
          <a:xfrm>
            <a:off x="6227064" y="2578608"/>
            <a:ext cx="157276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Runtime</a:t>
            </a:r>
            <a:endParaRPr lang="en-US" sz="1300" dirty="0"/>
          </a:p>
        </p:txBody>
      </p:sp>
      <p:sp>
        <p:nvSpPr>
          <p:cNvPr id="17" name="Shape 15"/>
          <p:cNvSpPr/>
          <p:nvPr/>
        </p:nvSpPr>
        <p:spPr>
          <a:xfrm>
            <a:off x="8028432" y="2148840"/>
            <a:ext cx="1572768" cy="960120"/>
          </a:xfrm>
          <a:prstGeom prst="roundRect">
            <a:avLst>
              <a:gd name="adj" fmla="val 7619"/>
            </a:avLst>
          </a:prstGeom>
          <a:solidFill>
            <a:srgbClr val="213F25"/>
          </a:solidFill>
          <a:ln w="12700">
            <a:solidFill>
              <a:srgbClr val="2C5233"/>
            </a:solidFill>
            <a:prstDash val="solid"/>
          </a:ln>
        </p:spPr>
      </p:sp>
      <p:sp>
        <p:nvSpPr>
          <p:cNvPr id="18" name="Text 16"/>
          <p:cNvSpPr txBox="1"/>
          <p:nvPr/>
        </p:nvSpPr>
        <p:spPr>
          <a:xfrm>
            <a:off x="8028432" y="2286000"/>
            <a:ext cx="1572768" cy="274320"/>
          </a:xfrm>
          <a:prstGeom prst="rect">
            <a:avLst/>
          </a:prstGeom>
          <a:noFill/>
          <a:ln/>
        </p:spPr>
        <p:txBody>
          <a:bodyPr wrap="square" lIns="0" tIns="0" rIns="0" bIns="0" rtlCol="0" anchor="ctr"/>
          <a:lstStyle/>
          <a:p>
            <a:pPr algn="ctr" indent="0" marL="0">
              <a:buNone/>
            </a:pPr>
            <a:r>
              <a:rPr lang="en-US" sz="1100" b="1" dirty="0">
                <a:solidFill>
                  <a:srgbClr val="97BC62"/>
                </a:solidFill>
                <a:latin typeface="Calibri" pitchFamily="34" charset="0"/>
                <a:ea typeface="Calibri" pitchFamily="34" charset="-122"/>
                <a:cs typeface="Calibri" pitchFamily="34" charset="-120"/>
              </a:rPr>
              <a:t>05</a:t>
            </a:r>
            <a:endParaRPr lang="en-US" sz="1100" dirty="0"/>
          </a:p>
        </p:txBody>
      </p:sp>
      <p:sp>
        <p:nvSpPr>
          <p:cNvPr id="19" name="Text 17"/>
          <p:cNvSpPr txBox="1"/>
          <p:nvPr/>
        </p:nvSpPr>
        <p:spPr>
          <a:xfrm>
            <a:off x="8028432" y="2578608"/>
            <a:ext cx="157276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API</a:t>
            </a:r>
            <a:endParaRPr lang="en-US" sz="1300" dirty="0"/>
          </a:p>
        </p:txBody>
      </p:sp>
      <p:sp>
        <p:nvSpPr>
          <p:cNvPr id="20" name="Shape 18"/>
          <p:cNvSpPr/>
          <p:nvPr/>
        </p:nvSpPr>
        <p:spPr>
          <a:xfrm>
            <a:off x="9829800" y="2148840"/>
            <a:ext cx="1572768" cy="960120"/>
          </a:xfrm>
          <a:prstGeom prst="roundRect">
            <a:avLst>
              <a:gd name="adj" fmla="val 7619"/>
            </a:avLst>
          </a:prstGeom>
          <a:solidFill>
            <a:srgbClr val="213F25"/>
          </a:solidFill>
          <a:ln w="12700">
            <a:solidFill>
              <a:srgbClr val="2C5233"/>
            </a:solidFill>
            <a:prstDash val="solid"/>
          </a:ln>
        </p:spPr>
      </p:sp>
      <p:sp>
        <p:nvSpPr>
          <p:cNvPr id="21" name="Text 19"/>
          <p:cNvSpPr txBox="1"/>
          <p:nvPr/>
        </p:nvSpPr>
        <p:spPr>
          <a:xfrm>
            <a:off x="9829800" y="2286000"/>
            <a:ext cx="1572768" cy="274320"/>
          </a:xfrm>
          <a:prstGeom prst="rect">
            <a:avLst/>
          </a:prstGeom>
          <a:noFill/>
          <a:ln/>
        </p:spPr>
        <p:txBody>
          <a:bodyPr wrap="square" lIns="0" tIns="0" rIns="0" bIns="0" rtlCol="0" anchor="ctr"/>
          <a:lstStyle/>
          <a:p>
            <a:pPr algn="ctr" indent="0" marL="0">
              <a:buNone/>
            </a:pPr>
            <a:r>
              <a:rPr lang="en-US" sz="1100" b="1" dirty="0">
                <a:solidFill>
                  <a:srgbClr val="97BC62"/>
                </a:solidFill>
                <a:latin typeface="Calibri" pitchFamily="34" charset="0"/>
                <a:ea typeface="Calibri" pitchFamily="34" charset="-122"/>
                <a:cs typeface="Calibri" pitchFamily="34" charset="-120"/>
              </a:rPr>
              <a:t>06</a:t>
            </a:r>
            <a:endParaRPr lang="en-US" sz="1100" dirty="0"/>
          </a:p>
        </p:txBody>
      </p:sp>
      <p:sp>
        <p:nvSpPr>
          <p:cNvPr id="22" name="Text 20"/>
          <p:cNvSpPr txBox="1"/>
          <p:nvPr/>
        </p:nvSpPr>
        <p:spPr>
          <a:xfrm>
            <a:off x="9829800" y="2578608"/>
            <a:ext cx="157276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Interface</a:t>
            </a:r>
            <a:endParaRPr lang="en-US" sz="1300" dirty="0"/>
          </a:p>
        </p:txBody>
      </p:sp>
      <p:sp>
        <p:nvSpPr>
          <p:cNvPr id="23" name="Text 21"/>
          <p:cNvSpPr txBox="1"/>
          <p:nvPr/>
        </p:nvSpPr>
        <p:spPr>
          <a:xfrm>
            <a:off x="822960" y="3246120"/>
            <a:ext cx="10515600" cy="320040"/>
          </a:xfrm>
          <a:prstGeom prst="rect">
            <a:avLst/>
          </a:prstGeom>
          <a:noFill/>
          <a:ln/>
        </p:spPr>
        <p:txBody>
          <a:bodyPr wrap="square" lIns="0" tIns="0" rIns="0" bIns="0" rtlCol="0" anchor="ctr"/>
          <a:lstStyle/>
          <a:p>
            <a:pPr indent="0" marL="0">
              <a:buNone/>
            </a:pPr>
            <a:r>
              <a:rPr lang="en-US" sz="1250" i="1" dirty="0">
                <a:solidFill>
                  <a:srgbClr val="8FA292"/>
                </a:solidFill>
                <a:latin typeface="Calibri" pitchFamily="34" charset="0"/>
                <a:ea typeface="Calibri" pitchFamily="34" charset="-122"/>
                <a:cs typeface="Calibri" pitchFamily="34" charset="-120"/>
              </a:rPr>
              <a:t>Layers 1–3 run on a laptop with no hardware at all. Layer 4 is the first that needs the Pi.</a:t>
            </a:r>
            <a:endParaRPr lang="en-US" sz="1250" dirty="0"/>
          </a:p>
        </p:txBody>
      </p:sp>
      <p:sp>
        <p:nvSpPr>
          <p:cNvPr id="24" name="Shape 22"/>
          <p:cNvSpPr/>
          <p:nvPr/>
        </p:nvSpPr>
        <p:spPr>
          <a:xfrm>
            <a:off x="822960" y="3977640"/>
            <a:ext cx="10515600" cy="1417320"/>
          </a:xfrm>
          <a:prstGeom prst="roundRect">
            <a:avLst>
              <a:gd name="adj" fmla="val 5806"/>
            </a:avLst>
          </a:prstGeom>
          <a:solidFill>
            <a:srgbClr val="213F25"/>
          </a:solidFill>
          <a:ln w="12700">
            <a:solidFill>
              <a:srgbClr val="2C5233"/>
            </a:solidFill>
            <a:prstDash val="solid"/>
          </a:ln>
        </p:spPr>
      </p:sp>
      <p:sp>
        <p:nvSpPr>
          <p:cNvPr id="25" name="Text 23"/>
          <p:cNvSpPr txBox="1"/>
          <p:nvPr/>
        </p:nvSpPr>
        <p:spPr>
          <a:xfrm>
            <a:off x="1188720" y="4206240"/>
            <a:ext cx="9784080"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The immediate next step is not more code.</a:t>
            </a:r>
            <a:endParaRPr lang="en-US" sz="1600" dirty="0"/>
          </a:p>
        </p:txBody>
      </p:sp>
      <p:sp>
        <p:nvSpPr>
          <p:cNvPr id="26" name="Text 24"/>
          <p:cNvSpPr txBox="1"/>
          <p:nvPr/>
        </p:nvSpPr>
        <p:spPr>
          <a:xfrm>
            <a:off x="1188720" y="4572000"/>
            <a:ext cx="9784080" cy="685800"/>
          </a:xfrm>
          <a:prstGeom prst="rect">
            <a:avLst/>
          </a:prstGeom>
          <a:noFill/>
          <a:ln/>
        </p:spPr>
        <p:txBody>
          <a:bodyPr wrap="square" lIns="0" tIns="0" rIns="0" bIns="0" rtlCol="0" anchor="t"/>
          <a:lstStyle/>
          <a:p>
            <a:pPr indent="0" marL="0">
              <a:lnSpc>
                <a:spcPts val="1900"/>
              </a:lnSpc>
              <a:buNone/>
            </a:pPr>
            <a:r>
              <a:rPr lang="en-US" sz="1300" dirty="0">
                <a:solidFill>
                  <a:srgbClr val="B9C7BB"/>
                </a:solidFill>
                <a:latin typeface="Calibri" pitchFamily="34" charset="0"/>
                <a:ea typeface="Calibri" pitchFamily="34" charset="-122"/>
                <a:cs typeface="Calibri" pitchFamily="34" charset="-120"/>
              </a:rPr>
              <a:t>After the driver layer, the sensors run for several days with automation switched off, so that real watering thresholds come from what the soil actually reports — not from a number carried over from the old system.</a:t>
            </a:r>
            <a:endParaRPr lang="en-US" sz="1300" dirty="0"/>
          </a:p>
        </p:txBody>
      </p:sp>
      <p:sp>
        <p:nvSpPr>
          <p:cNvPr id="27" name="Text 25"/>
          <p:cNvSpPr txBox="1"/>
          <p:nvPr/>
        </p:nvSpPr>
        <p:spPr>
          <a:xfrm>
            <a:off x="822960" y="5943600"/>
            <a:ext cx="10515600" cy="274320"/>
          </a:xfrm>
          <a:prstGeom prst="rect">
            <a:avLst/>
          </a:prstGeom>
          <a:noFill/>
          <a:ln/>
        </p:spPr>
        <p:txBody>
          <a:bodyPr wrap="square" lIns="0" tIns="0" rIns="0" bIns="0" rtlCol="0" anchor="ctr"/>
          <a:lstStyle/>
          <a:p>
            <a:pPr indent="0" marL="0">
              <a:buNone/>
            </a:pPr>
            <a:r>
              <a:rPr lang="en-US" sz="1150" dirty="0">
                <a:solidFill>
                  <a:srgbClr val="7E8E80"/>
                </a:solidFill>
                <a:latin typeface="Calibri" pitchFamily="34" charset="0"/>
                <a:ea typeface="Calibri" pitchFamily="34" charset="-122"/>
                <a:cs typeface="Calibri" pitchFamily="34" charset="-120"/>
              </a:rPr>
              <a:t>SmartGarden  ·  Phase 1  ·  Rev A  ·  September 2026</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SmartGarden</dc:title>
  <dc:subject>PptxGenJS Presentation</dc:subject>
  <dc:creator>Slav Petkovic</dc:creator>
  <cp:lastModifiedBy>Slav Petkovic</cp:lastModifiedBy>
  <cp:revision>1</cp:revision>
  <dcterms:created xsi:type="dcterms:W3CDTF">2026-09-04T17:47:53Z</dcterms:created>
  <dcterms:modified xsi:type="dcterms:W3CDTF">2026-09-04T17:47:53Z</dcterms:modified>
</cp:coreProperties>
</file>